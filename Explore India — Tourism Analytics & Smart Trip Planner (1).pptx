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1 (about 2 min for slides 1-2). Welcome. Introduce our mini project, Explore India, for Data Visualization Using Python, and the members named on the cover. Then move to the problem statement.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1. Our project answers one question: how can tourism data help a traveller choose and plan a trip? State the problem and the three objectives in your own words. Transition: Student 2 will describe the dataset and how we prepared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2 (about 3 min for slides 3-4). Name the real dataset source and size. Explain each preprocessing step actually performed; fill in the bracketed items first. Transition: now how the cleaned data reaches the website.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3 (about 1.5 min). Walk the flow left to right, then describe the frontend and the backend. Stress data connectivity: one database, read through the Flask backend by every page. Transition: here is everything the website offers.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3. Walk through the navigation bar of the website, one feature at a time, and fill in the Home and Travel quiz descriptions. Transition: we now show the visualisations and what they tell 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3 (about 3 min for slides 6-7). Show the Insights page as an example of what the website gives a traveller. Explain the purpose of each chart, not individual data points. Transition: next, comparing destinations.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3. Show the Destinations page as an example. Explain how a traveller uses it to compare places and shortlist them. Transition: Student 4 will show the trip planner.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4 (about 3 min for slides 8-9). Demonstrate the planner as the core feature: input budget and time, show the generated itinerary and summary, then the PDF download. Transition: saved places and trip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4. Show the Saved page and the Trip History page. Explain that they let a traveller keep shortlisted places and reuse planned itineraries. Transition: Student 5 will conclude.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3 (about 3 min for slides 10-12). Explain the request path: a page asks a Flask route, the route calls the logic, the logic queries SQLite, and JSON goes back to the page. Fill in the confirmed details from the code. Transition: the database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3. Describe the SQLite schema: the attractions table imported from the cleaned dataset, and the tables that support Saved and Trip History. Correct the column lists to match the real schema. Transition: the APIs and the planner logic.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3. Walk through the API groups, one per website feature, then the planner logic step by step. State the exact selection rule used in the code. Transition: Student 5 will conclude.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5 (about 1 min). Summarise what the project delivers and list the documentation submitted. Then hand over to the thank-you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5. Thank the faculty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A1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711200"/>
            <a:ext cx="10566400" cy="447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FFF3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463014"/>
            <a:ext cx="10566400" cy="4582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711200"/>
            <a:ext cx="10566400" cy="447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FFF3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463014"/>
            <a:ext cx="10566400" cy="4582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jpe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jpe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jpe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jpeg"/><Relationship Id="rId6" Type="http://schemas.openxmlformats.org/officeDocument/2006/relationships/image" Target="../media/image-9-6.jpe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A1038"/>
              </a:gs>
              <a:gs pos="100000">
                <a:srgbClr val="3B1D6E"/>
              </a:gs>
            </a:gsLst>
            <a:lin ang="2700000" scaled="0"/>
          </a:gradFill>
          <a:ln/>
        </p:spPr>
      </p:sp>
      <p:pic>
        <p:nvPicPr>
          <p:cNvPr id="3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5000" y="0"/>
            <a:ext cx="2667000" cy="2667000"/>
          </a:xfrm>
          <a:prstGeom prst="rect">
            <a:avLst/>
          </a:prstGeom>
        </p:spPr>
      </p:pic>
      <p:pic>
        <p:nvPicPr>
          <p:cNvPr id="4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4445000"/>
            <a:ext cx="2286000" cy="2286000"/>
          </a:xfrm>
          <a:prstGeom prst="rect">
            <a:avLst/>
          </a:prstGeom>
        </p:spPr>
      </p:pic>
      <p:pic>
        <p:nvPicPr>
          <p:cNvPr id="5" name="Image 2" descr="ellip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477500" y="4953000"/>
            <a:ext cx="1270000" cy="12700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54304" y="7112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FFB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VISUALIZATION USING PYTHON </a:t>
            </a:r>
            <a:endParaRPr lang="en-US" sz="1300" dirty="0"/>
          </a:p>
        </p:txBody>
      </p:sp>
      <p:sp>
        <p:nvSpPr>
          <p:cNvPr id="7" name="Text 2"/>
          <p:cNvSpPr/>
          <p:nvPr>
            <p:ph type="title"/>
          </p:nvPr>
        </p:nvSpPr>
        <p:spPr>
          <a:xfrm>
            <a:off x="654304" y="1196314"/>
            <a:ext cx="10883392" cy="1412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460"/>
              </a:lnSpc>
              <a:buNone/>
            </a:pPr>
            <a:endParaRPr lang="en-US" sz="5200" dirty="0"/>
          </a:p>
          <a:p>
            <a:pPr algn="ctr" indent="0" marL="0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FF3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Explore India</a:t>
            </a:r>
            <a:endParaRPr lang="en-US" sz="5200" dirty="0"/>
          </a:p>
        </p:txBody>
      </p:sp>
      <p:sp>
        <p:nvSpPr>
          <p:cNvPr id="8" name="Text 3"/>
          <p:cNvSpPr/>
          <p:nvPr/>
        </p:nvSpPr>
        <p:spPr>
          <a:xfrm>
            <a:off x="654304" y="2837127"/>
            <a:ext cx="10883392" cy="421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12D6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Tourism Analytics &amp; Smart Trip Planner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812800" y="4445000"/>
            <a:ext cx="2006600" cy="767027"/>
          </a:xfrm>
          <a:prstGeom prst="roundRect">
            <a:avLst>
              <a:gd name="adj" fmla="val 19869"/>
            </a:avLst>
          </a:prstGeom>
          <a:solidFill>
            <a:srgbClr val="FF5D5D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sp>
        <p:nvSpPr>
          <p:cNvPr id="10" name="Text 5"/>
          <p:cNvSpPr/>
          <p:nvPr/>
        </p:nvSpPr>
        <p:spPr>
          <a:xfrm>
            <a:off x="965200" y="4597400"/>
            <a:ext cx="1752854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Addya Nagle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965200" y="4846307"/>
            <a:ext cx="17528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PRN 1262242243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2946400" y="4445000"/>
            <a:ext cx="2006600" cy="767027"/>
          </a:xfrm>
          <a:prstGeom prst="roundRect">
            <a:avLst>
              <a:gd name="adj" fmla="val 19869"/>
            </a:avLst>
          </a:prstGeom>
          <a:solidFill>
            <a:srgbClr val="FFB020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3098800" y="4597400"/>
            <a:ext cx="1752854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Siddhi Singh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3098800" y="4846307"/>
            <a:ext cx="17528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PRN [1262242131]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080000" y="4445000"/>
            <a:ext cx="2006600" cy="767027"/>
          </a:xfrm>
          <a:prstGeom prst="roundRect">
            <a:avLst>
              <a:gd name="adj" fmla="val 19869"/>
            </a:avLst>
          </a:prstGeom>
          <a:solidFill>
            <a:srgbClr val="12D6B0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5232400" y="4597400"/>
            <a:ext cx="1752854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Karan Toraskar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5232400" y="4846307"/>
            <a:ext cx="17528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PRN [1262242004]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7213600" y="4445000"/>
            <a:ext cx="2006600" cy="767027"/>
          </a:xfrm>
          <a:prstGeom prst="roundRect">
            <a:avLst>
              <a:gd name="adj" fmla="val 19869"/>
            </a:avLst>
          </a:prstGeom>
          <a:solidFill>
            <a:srgbClr val="B69CFF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7366000" y="4597400"/>
            <a:ext cx="1752854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Hrugved Bhoite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7366000" y="4846307"/>
            <a:ext cx="17528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PRN [1262242079]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9347200" y="4445000"/>
            <a:ext cx="2006600" cy="767027"/>
          </a:xfrm>
          <a:prstGeom prst="roundRect">
            <a:avLst>
              <a:gd name="adj" fmla="val 19869"/>
            </a:avLst>
          </a:prstGeom>
          <a:solidFill>
            <a:srgbClr val="5BC8FA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9499600" y="4597400"/>
            <a:ext cx="1752854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Aditya Gudage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9499600" y="4846307"/>
            <a:ext cx="17528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PRN [1262241948]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F2A4A"/>
              </a:gs>
              <a:gs pos="100000">
                <a:srgbClr val="1A1038"/>
              </a:gs>
            </a:gsLst>
            <a:lin ang="2700000" scaled="0"/>
          </a:gradFill>
          <a:ln/>
        </p:spPr>
      </p:sp>
      <p:pic>
        <p:nvPicPr>
          <p:cNvPr id="3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2413000" cy="2413000"/>
          </a:xfrm>
          <a:prstGeom prst="rect">
            <a:avLst/>
          </a:prstGeom>
        </p:spPr>
      </p:pic>
      <p:pic>
        <p:nvPicPr>
          <p:cNvPr id="4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906000" y="4064000"/>
            <a:ext cx="2667000" cy="2667000"/>
          </a:xfrm>
          <a:prstGeom prst="rect">
            <a:avLst/>
          </a:prstGeom>
        </p:spPr>
      </p:pic>
      <p:pic>
        <p:nvPicPr>
          <p:cNvPr id="5" name="Image 2" descr="ellip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63000" y="0"/>
            <a:ext cx="1016000" cy="1016000"/>
          </a:xfrm>
          <a:prstGeom prst="rect">
            <a:avLst/>
          </a:prstGeom>
        </p:spPr>
      </p:pic>
      <p:sp>
        <p:nvSpPr>
          <p:cNvPr id="6" name="Text 1"/>
          <p:cNvSpPr/>
          <p:nvPr>
            <p:ph type="title"/>
          </p:nvPr>
        </p:nvSpPr>
        <p:spPr>
          <a:xfrm>
            <a:off x="812800" y="71120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FF3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 and objectives</a:t>
            </a:r>
            <a:endParaRPr lang="en-US" sz="3200" dirty="0"/>
          </a:p>
        </p:txBody>
      </p:sp>
      <p:pic>
        <p:nvPicPr>
          <p:cNvPr id="7" name="Image 3" descr="lin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2800" y="1285214"/>
            <a:ext cx="1143000" cy="6350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812800" y="1600200"/>
            <a:ext cx="981075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FFF3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Tourism information about India is spread across many sources, which makes it hard to compare destinations and plan a trip from data.</a:t>
            </a:r>
            <a:endParaRPr lang="en-US" sz="2000" dirty="0"/>
          </a:p>
        </p:txBody>
      </p:sp>
      <p:sp>
        <p:nvSpPr>
          <p:cNvPr id="9" name="Shape 3"/>
          <p:cNvSpPr/>
          <p:nvPr/>
        </p:nvSpPr>
        <p:spPr>
          <a:xfrm>
            <a:off x="812800" y="2540000"/>
            <a:ext cx="3403600" cy="3302000"/>
          </a:xfrm>
          <a:prstGeom prst="roundRect">
            <a:avLst>
              <a:gd name="adj" fmla="val 5385"/>
            </a:avLst>
          </a:prstGeom>
          <a:solidFill>
            <a:srgbClr val="FF5D5D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sp>
        <p:nvSpPr>
          <p:cNvPr id="10" name="Shape 4"/>
          <p:cNvSpPr/>
          <p:nvPr/>
        </p:nvSpPr>
        <p:spPr>
          <a:xfrm>
            <a:off x="4394200" y="2540000"/>
            <a:ext cx="3403600" cy="3302000"/>
          </a:xfrm>
          <a:prstGeom prst="roundRect">
            <a:avLst>
              <a:gd name="adj" fmla="val 5385"/>
            </a:avLst>
          </a:prstGeom>
          <a:solidFill>
            <a:srgbClr val="FFB020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pic>
        <p:nvPicPr>
          <p:cNvPr id="11" name="Image 4" descr="Chart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622800" y="2768600"/>
            <a:ext cx="558800" cy="5588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622800" y="3756819"/>
            <a:ext cx="3034792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Objective 2</a:t>
            </a:r>
            <a:endParaRPr lang="en-US" sz="1900" dirty="0"/>
          </a:p>
        </p:txBody>
      </p:sp>
      <p:sp>
        <p:nvSpPr>
          <p:cNvPr id="13" name="Text 6"/>
          <p:cNvSpPr/>
          <p:nvPr/>
        </p:nvSpPr>
        <p:spPr>
          <a:xfrm>
            <a:off x="4622800" y="4475692"/>
            <a:ext cx="3034792" cy="1163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Present findings through interactive Plotly visualisations and a dashboard.</a:t>
            </a: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7975600" y="2540000"/>
            <a:ext cx="3403600" cy="3302000"/>
          </a:xfrm>
          <a:prstGeom prst="roundRect">
            <a:avLst>
              <a:gd name="adj" fmla="val 5385"/>
            </a:avLst>
          </a:prstGeom>
          <a:solidFill>
            <a:srgbClr val="12D6B0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pic>
        <p:nvPicPr>
          <p:cNvPr id="15" name="Image 5" descr="Search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041400" y="2768600"/>
            <a:ext cx="558800" cy="5588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41400" y="3772892"/>
            <a:ext cx="3034792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Objective 1</a:t>
            </a:r>
            <a:endParaRPr lang="en-US" sz="1900" dirty="0"/>
          </a:p>
        </p:txBody>
      </p:sp>
      <p:sp>
        <p:nvSpPr>
          <p:cNvPr id="17" name="Text 9"/>
          <p:cNvSpPr/>
          <p:nvPr/>
        </p:nvSpPr>
        <p:spPr>
          <a:xfrm>
            <a:off x="1041400" y="4402403"/>
            <a:ext cx="3034792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Analyse a tourism dataset to find patterns across destinations.</a:t>
            </a:r>
            <a:endParaRPr lang="en-US" sz="1600" dirty="0"/>
          </a:p>
        </p:txBody>
      </p:sp>
      <p:pic>
        <p:nvPicPr>
          <p:cNvPr id="18" name="Image 6" descr="PaperPlane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204200" y="2768600"/>
            <a:ext cx="558800" cy="5588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8204200" y="3772892"/>
            <a:ext cx="3034792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Objective 3</a:t>
            </a:r>
            <a:endParaRPr lang="en-US" sz="1900" dirty="0"/>
          </a:p>
        </p:txBody>
      </p:sp>
      <p:sp>
        <p:nvSpPr>
          <p:cNvPr id="20" name="Text 11"/>
          <p:cNvSpPr/>
          <p:nvPr/>
        </p:nvSpPr>
        <p:spPr>
          <a:xfrm>
            <a:off x="8204200" y="4402468"/>
            <a:ext cx="3034792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Turn the analysis into a smart trip planner that supports travel decisions.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A1038"/>
              </a:gs>
              <a:gs pos="100000">
                <a:srgbClr val="3B1D6E"/>
              </a:gs>
            </a:gsLst>
            <a:lin ang="2700000" scaled="0"/>
          </a:gradFill>
          <a:ln/>
        </p:spPr>
      </p:sp>
      <p:pic>
        <p:nvPicPr>
          <p:cNvPr id="3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5000" y="0"/>
            <a:ext cx="2667000" cy="2667000"/>
          </a:xfrm>
          <a:prstGeom prst="rect">
            <a:avLst/>
          </a:prstGeom>
        </p:spPr>
      </p:pic>
      <p:pic>
        <p:nvPicPr>
          <p:cNvPr id="4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4445000"/>
            <a:ext cx="2286000" cy="2286000"/>
          </a:xfrm>
          <a:prstGeom prst="rect">
            <a:avLst/>
          </a:prstGeom>
        </p:spPr>
      </p:pic>
      <p:pic>
        <p:nvPicPr>
          <p:cNvPr id="5" name="Image 2" descr="ellip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477500" y="4953000"/>
            <a:ext cx="1270000" cy="1270000"/>
          </a:xfrm>
          <a:prstGeom prst="rect">
            <a:avLst/>
          </a:prstGeom>
        </p:spPr>
      </p:pic>
      <p:sp>
        <p:nvSpPr>
          <p:cNvPr id="6" name="Text 1"/>
          <p:cNvSpPr/>
          <p:nvPr>
            <p:ph type="title"/>
          </p:nvPr>
        </p:nvSpPr>
        <p:spPr>
          <a:xfrm>
            <a:off x="812800" y="71120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FF3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Dataset description and preprocessing</a:t>
            </a:r>
            <a:endParaRPr lang="en-US" sz="3200" dirty="0"/>
          </a:p>
        </p:txBody>
      </p:sp>
      <p:pic>
        <p:nvPicPr>
          <p:cNvPr id="7" name="Image 3" descr="lin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2800" y="1285215"/>
            <a:ext cx="1143000" cy="63500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812800" y="1600200"/>
            <a:ext cx="3403600" cy="4241800"/>
          </a:xfrm>
          <a:prstGeom prst="roundRect">
            <a:avLst>
              <a:gd name="adj" fmla="val 5224"/>
            </a:avLst>
          </a:prstGeom>
          <a:solidFill>
            <a:srgbClr val="5BC8FA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sp>
        <p:nvSpPr>
          <p:cNvPr id="9" name="Shape 3"/>
          <p:cNvSpPr/>
          <p:nvPr/>
        </p:nvSpPr>
        <p:spPr>
          <a:xfrm>
            <a:off x="4394200" y="1600200"/>
            <a:ext cx="3403600" cy="4241800"/>
          </a:xfrm>
          <a:prstGeom prst="roundRect">
            <a:avLst>
              <a:gd name="adj" fmla="val 5224"/>
            </a:avLst>
          </a:prstGeom>
          <a:solidFill>
            <a:srgbClr val="12D6B0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sp>
        <p:nvSpPr>
          <p:cNvPr id="10" name="Shape 4"/>
          <p:cNvSpPr/>
          <p:nvPr/>
        </p:nvSpPr>
        <p:spPr>
          <a:xfrm>
            <a:off x="7975600" y="1600200"/>
            <a:ext cx="3403600" cy="4241800"/>
          </a:xfrm>
          <a:prstGeom prst="roundRect">
            <a:avLst>
              <a:gd name="adj" fmla="val 5224"/>
            </a:avLst>
          </a:prstGeom>
          <a:solidFill>
            <a:srgbClr val="FFB020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pic>
        <p:nvPicPr>
          <p:cNvPr id="11" name="Image 4" descr="Wrench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622800" y="1828800"/>
            <a:ext cx="558800" cy="5588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622800" y="2665611"/>
            <a:ext cx="3034792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Preprocessing tasks</a:t>
            </a:r>
            <a:endParaRPr lang="en-US" sz="1900" dirty="0"/>
          </a:p>
        </p:txBody>
      </p:sp>
      <p:pic>
        <p:nvPicPr>
          <p:cNvPr id="13" name="Image 5" descr="Book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041400" y="1828800"/>
            <a:ext cx="558800" cy="5588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041400" y="2665611"/>
            <a:ext cx="3034792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Dataset description</a:t>
            </a:r>
            <a:endParaRPr lang="en-US" sz="1900" dirty="0"/>
          </a:p>
        </p:txBody>
      </p:sp>
      <p:sp>
        <p:nvSpPr>
          <p:cNvPr id="15" name="Text 7"/>
          <p:cNvSpPr/>
          <p:nvPr/>
        </p:nvSpPr>
        <p:spPr>
          <a:xfrm>
            <a:off x="1203325" y="3270780"/>
            <a:ext cx="2395118" cy="2265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[Kaggle link or authentic source].</a:t>
            </a:r>
            <a:endParaRPr lang="en-US" sz="1400" dirty="0"/>
          </a:p>
          <a:p>
            <a:pPr algn="l" indent="0" marL="0">
              <a:lnSpc>
                <a:spcPts val="1960"/>
              </a:lnSpc>
              <a:buNone/>
            </a:pPr>
            <a:endParaRPr lang="en-US" sz="1400" dirty="0"/>
          </a:p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Fields: attraction name, type, location (city, state), rating, reviews (lakhs), entry fee, visit duration, best time to visit.</a:t>
            </a:r>
            <a:endParaRPr lang="en-US" sz="1400" dirty="0"/>
          </a:p>
        </p:txBody>
      </p:sp>
      <p:pic>
        <p:nvPicPr>
          <p:cNvPr id="16" name="Image 6" descr="Database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204200" y="1828800"/>
            <a:ext cx="558800" cy="55880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8537178" y="2668191"/>
            <a:ext cx="2691756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Loaded for use</a:t>
            </a:r>
            <a:endParaRPr lang="en-US" sz="1900" dirty="0"/>
          </a:p>
        </p:txBody>
      </p:sp>
      <p:sp>
        <p:nvSpPr>
          <p:cNvPr id="18" name="Text 9"/>
          <p:cNvSpPr/>
          <p:nvPr/>
        </p:nvSpPr>
        <p:spPr>
          <a:xfrm>
            <a:off x="8537178" y="3432770"/>
            <a:ext cx="2172672" cy="1269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Cleaned data is imported into a SQLite database so the website reads it through the backend.</a:t>
            </a:r>
            <a:endParaRPr lang="en-US" sz="1400" dirty="0"/>
          </a:p>
        </p:txBody>
      </p:sp>
      <p:sp>
        <p:nvSpPr>
          <p:cNvPr id="19" name="Text 10"/>
          <p:cNvSpPr/>
          <p:nvPr/>
        </p:nvSpPr>
        <p:spPr>
          <a:xfrm>
            <a:off x="4892808" y="3270780"/>
            <a:ext cx="2339455" cy="2220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3"/>
              </a:lnSpc>
              <a:buNone/>
            </a:pPr>
            <a:r>
              <a:rPr lang="en-US" sz="1374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Missing values:
 Entry fee ("Free" vs amounts): 
Dropping unwanted columns
No duplicate data
</a:t>
            </a:r>
            <a:endParaRPr lang="en-US" sz="137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F2A4A"/>
              </a:gs>
              <a:gs pos="100000">
                <a:srgbClr val="1A1038"/>
              </a:gs>
            </a:gsLst>
            <a:lin ang="2700000" scaled="0"/>
          </a:gradFill>
          <a:ln/>
        </p:spPr>
      </p:sp>
      <p:pic>
        <p:nvPicPr>
          <p:cNvPr id="3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2413000" cy="2413000"/>
          </a:xfrm>
          <a:prstGeom prst="rect">
            <a:avLst/>
          </a:prstGeom>
        </p:spPr>
      </p:pic>
      <p:pic>
        <p:nvPicPr>
          <p:cNvPr id="4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906000" y="4064000"/>
            <a:ext cx="2667000" cy="2667000"/>
          </a:xfrm>
          <a:prstGeom prst="rect">
            <a:avLst/>
          </a:prstGeom>
        </p:spPr>
      </p:pic>
      <p:pic>
        <p:nvPicPr>
          <p:cNvPr id="5" name="Image 2" descr="ellip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63000" y="0"/>
            <a:ext cx="1016000" cy="1016000"/>
          </a:xfrm>
          <a:prstGeom prst="rect">
            <a:avLst/>
          </a:prstGeom>
        </p:spPr>
      </p:pic>
      <p:sp>
        <p:nvSpPr>
          <p:cNvPr id="6" name="Text 1"/>
          <p:cNvSpPr/>
          <p:nvPr>
            <p:ph type="title"/>
          </p:nvPr>
        </p:nvSpPr>
        <p:spPr>
          <a:xfrm>
            <a:off x="812800" y="71120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FF3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Frontend, backend and data connectivity</a:t>
            </a:r>
            <a:endParaRPr lang="en-US" sz="3200" dirty="0"/>
          </a:p>
        </p:txBody>
      </p:sp>
      <p:pic>
        <p:nvPicPr>
          <p:cNvPr id="7" name="Image 3" descr="lin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2800" y="1285215"/>
            <a:ext cx="1143000" cy="63500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812800" y="1600200"/>
            <a:ext cx="1727200" cy="1447800"/>
          </a:xfrm>
          <a:prstGeom prst="roundRect">
            <a:avLst>
              <a:gd name="adj" fmla="val 12281"/>
            </a:avLst>
          </a:prstGeom>
          <a:solidFill>
            <a:srgbClr val="FF5D5D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4" descr="Boo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447800" y="1790700"/>
            <a:ext cx="457200" cy="45720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1205316" y="2311400"/>
            <a:ext cx="94210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Dataset</a:t>
            </a:r>
            <a:endParaRPr lang="en-US" sz="1500" dirty="0"/>
          </a:p>
        </p:txBody>
      </p:sp>
      <p:sp>
        <p:nvSpPr>
          <p:cNvPr id="11" name="Text 4"/>
          <p:cNvSpPr/>
          <p:nvPr/>
        </p:nvSpPr>
        <p:spPr>
          <a:xfrm>
            <a:off x="1057434" y="2641600"/>
            <a:ext cx="12379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cleaned data</a:t>
            </a:r>
            <a:endParaRPr lang="en-US" sz="1200" dirty="0"/>
          </a:p>
        </p:txBody>
      </p:sp>
      <p:pic>
        <p:nvPicPr>
          <p:cNvPr id="12" name="Image 5" descr="arrow-right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616200" y="2209800"/>
            <a:ext cx="330200" cy="228600"/>
          </a:xfrm>
          <a:prstGeom prst="rect">
            <a:avLst/>
          </a:prstGeom>
        </p:spPr>
      </p:pic>
      <p:sp>
        <p:nvSpPr>
          <p:cNvPr id="13" name="Shape 5"/>
          <p:cNvSpPr/>
          <p:nvPr/>
        </p:nvSpPr>
        <p:spPr>
          <a:xfrm>
            <a:off x="3022600" y="1600200"/>
            <a:ext cx="1727200" cy="1447800"/>
          </a:xfrm>
          <a:prstGeom prst="roundRect">
            <a:avLst>
              <a:gd name="adj" fmla="val 12281"/>
            </a:avLst>
          </a:prstGeom>
          <a:solidFill>
            <a:srgbClr val="FFB020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pic>
        <p:nvPicPr>
          <p:cNvPr id="14" name="Image 6" descr="Database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657600" y="1790700"/>
            <a:ext cx="457200" cy="45720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3515367" y="2311400"/>
            <a:ext cx="74160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SQLite</a:t>
            </a:r>
            <a:endParaRPr lang="en-US" sz="1500" dirty="0"/>
          </a:p>
        </p:txBody>
      </p:sp>
      <p:sp>
        <p:nvSpPr>
          <p:cNvPr id="16" name="Text 7"/>
          <p:cNvSpPr/>
          <p:nvPr/>
        </p:nvSpPr>
        <p:spPr>
          <a:xfrm>
            <a:off x="3088250" y="2641600"/>
            <a:ext cx="15958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schema + import</a:t>
            </a:r>
            <a:endParaRPr lang="en-US" sz="1200" dirty="0"/>
          </a:p>
        </p:txBody>
      </p:sp>
      <p:pic>
        <p:nvPicPr>
          <p:cNvPr id="17" name="Image 7" descr="arrow-right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826000" y="2209800"/>
            <a:ext cx="330200" cy="228600"/>
          </a:xfrm>
          <a:prstGeom prst="rect">
            <a:avLst/>
          </a:prstGeom>
        </p:spPr>
      </p:pic>
      <p:sp>
        <p:nvSpPr>
          <p:cNvPr id="18" name="Shape 8"/>
          <p:cNvSpPr/>
          <p:nvPr/>
        </p:nvSpPr>
        <p:spPr>
          <a:xfrm>
            <a:off x="5232400" y="1600200"/>
            <a:ext cx="1727200" cy="1447800"/>
          </a:xfrm>
          <a:prstGeom prst="roundRect">
            <a:avLst>
              <a:gd name="adj" fmla="val 12281"/>
            </a:avLst>
          </a:prstGeom>
          <a:solidFill>
            <a:srgbClr val="12D6B0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pic>
        <p:nvPicPr>
          <p:cNvPr id="19" name="Image 8" descr="Lightni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867400" y="1790700"/>
            <a:ext cx="457200" cy="457200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5780015" y="2311400"/>
            <a:ext cx="63190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Flask</a:t>
            </a:r>
            <a:endParaRPr lang="en-US" sz="1500" dirty="0"/>
          </a:p>
        </p:txBody>
      </p:sp>
      <p:sp>
        <p:nvSpPr>
          <p:cNvPr id="21" name="Text 10"/>
          <p:cNvSpPr/>
          <p:nvPr/>
        </p:nvSpPr>
        <p:spPr>
          <a:xfrm>
            <a:off x="5449735" y="2641600"/>
            <a:ext cx="12924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APIs + queries</a:t>
            </a:r>
            <a:endParaRPr lang="en-US" sz="1200" dirty="0"/>
          </a:p>
        </p:txBody>
      </p:sp>
      <p:pic>
        <p:nvPicPr>
          <p:cNvPr id="22" name="Image 9" descr="arrow-right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7035800" y="2209800"/>
            <a:ext cx="330200" cy="228600"/>
          </a:xfrm>
          <a:prstGeom prst="rect">
            <a:avLst/>
          </a:prstGeom>
        </p:spPr>
      </p:pic>
      <p:sp>
        <p:nvSpPr>
          <p:cNvPr id="23" name="Shape 11"/>
          <p:cNvSpPr/>
          <p:nvPr/>
        </p:nvSpPr>
        <p:spPr>
          <a:xfrm>
            <a:off x="7442200" y="1600200"/>
            <a:ext cx="1727200" cy="1447800"/>
          </a:xfrm>
          <a:prstGeom prst="roundRect">
            <a:avLst>
              <a:gd name="adj" fmla="val 12281"/>
            </a:avLst>
          </a:prstGeom>
          <a:solidFill>
            <a:srgbClr val="B69CFF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pic>
        <p:nvPicPr>
          <p:cNvPr id="24" name="Image 10" descr="Chart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8077200" y="1790700"/>
            <a:ext cx="457200" cy="457200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7966955" y="2311400"/>
            <a:ext cx="67762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Plotly</a:t>
            </a:r>
            <a:endParaRPr lang="en-US" sz="1500" dirty="0"/>
          </a:p>
        </p:txBody>
      </p:sp>
      <p:sp>
        <p:nvSpPr>
          <p:cNvPr id="26" name="Text 13"/>
          <p:cNvSpPr/>
          <p:nvPr/>
        </p:nvSpPr>
        <p:spPr>
          <a:xfrm>
            <a:off x="8011637" y="2641600"/>
            <a:ext cx="5883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charts</a:t>
            </a:r>
            <a:endParaRPr lang="en-US" sz="1200" dirty="0"/>
          </a:p>
        </p:txBody>
      </p:sp>
      <p:pic>
        <p:nvPicPr>
          <p:cNvPr id="27" name="Image 11" descr="arrow-right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9245600" y="2209800"/>
            <a:ext cx="330200" cy="228600"/>
          </a:xfrm>
          <a:prstGeom prst="rect">
            <a:avLst/>
          </a:prstGeom>
        </p:spPr>
      </p:pic>
      <p:sp>
        <p:nvSpPr>
          <p:cNvPr id="28" name="Shape 14"/>
          <p:cNvSpPr/>
          <p:nvPr/>
        </p:nvSpPr>
        <p:spPr>
          <a:xfrm>
            <a:off x="9652000" y="1600200"/>
            <a:ext cx="1727200" cy="1447800"/>
          </a:xfrm>
          <a:prstGeom prst="roundRect">
            <a:avLst>
              <a:gd name="adj" fmla="val 12281"/>
            </a:avLst>
          </a:prstGeom>
          <a:solidFill>
            <a:srgbClr val="5BC8FA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pic>
        <p:nvPicPr>
          <p:cNvPr id="29" name="Image 12" descr="Globe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10287000" y="1790700"/>
            <a:ext cx="457200" cy="457200"/>
          </a:xfrm>
          <a:prstGeom prst="rect">
            <a:avLst/>
          </a:prstGeom>
        </p:spPr>
      </p:pic>
      <p:sp>
        <p:nvSpPr>
          <p:cNvPr id="30" name="Text 15"/>
          <p:cNvSpPr/>
          <p:nvPr/>
        </p:nvSpPr>
        <p:spPr>
          <a:xfrm>
            <a:off x="10025783" y="2311400"/>
            <a:ext cx="97956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Website</a:t>
            </a:r>
            <a:endParaRPr lang="en-US" sz="1500" dirty="0"/>
          </a:p>
        </p:txBody>
      </p:sp>
      <p:sp>
        <p:nvSpPr>
          <p:cNvPr id="31" name="Text 16"/>
          <p:cNvSpPr/>
          <p:nvPr/>
        </p:nvSpPr>
        <p:spPr>
          <a:xfrm>
            <a:off x="9753130" y="2641600"/>
            <a:ext cx="15248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pages + planner</a:t>
            </a:r>
            <a:endParaRPr lang="en-US" sz="1200" dirty="0"/>
          </a:p>
        </p:txBody>
      </p:sp>
      <p:sp>
        <p:nvSpPr>
          <p:cNvPr id="32" name="Shape 17"/>
          <p:cNvSpPr/>
          <p:nvPr/>
        </p:nvSpPr>
        <p:spPr>
          <a:xfrm>
            <a:off x="812800" y="3302000"/>
            <a:ext cx="5194300" cy="2546350"/>
          </a:xfrm>
          <a:prstGeom prst="roundRect">
            <a:avLst>
              <a:gd name="adj" fmla="val 6983"/>
            </a:avLst>
          </a:prstGeom>
          <a:solidFill>
            <a:srgbClr val="B69CFF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sp>
        <p:nvSpPr>
          <p:cNvPr id="33" name="Text 18"/>
          <p:cNvSpPr/>
          <p:nvPr/>
        </p:nvSpPr>
        <p:spPr>
          <a:xfrm>
            <a:off x="1041400" y="3530600"/>
            <a:ext cx="4879213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Frontend</a:t>
            </a:r>
            <a:endParaRPr lang="en-US" sz="1900" dirty="0"/>
          </a:p>
        </p:txBody>
      </p:sp>
      <p:sp>
        <p:nvSpPr>
          <p:cNvPr id="34" name="Text 19"/>
          <p:cNvSpPr/>
          <p:nvPr/>
        </p:nvSpPr>
        <p:spPr>
          <a:xfrm>
            <a:off x="1041400" y="3909020"/>
            <a:ext cx="4879213" cy="1518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Website pages </a:t>
            </a:r>
            <a:endParaRPr lang="en-US" sz="1400" dirty="0"/>
          </a:p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(Home, Destinations, Trip planner, Insights, Travel quiz, Saved, Trip History)</a:t>
            </a:r>
            <a:endParaRPr lang="en-US" sz="1400" dirty="0"/>
          </a:p>
          <a:p>
            <a:pPr algn="l" indent="0" marL="0">
              <a:lnSpc>
                <a:spcPts val="1960"/>
              </a:lnSpc>
              <a:buNone/>
            </a:pPr>
            <a:endParaRPr lang="en-US" sz="1400" dirty="0"/>
          </a:p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Built with </a:t>
            </a:r>
            <a:endParaRPr lang="en-US" sz="1400" dirty="0"/>
          </a:p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HTML,CSS and JavaScript, with Plotly charts. </a:t>
            </a:r>
            <a:endParaRPr lang="en-US" sz="1400" dirty="0"/>
          </a:p>
        </p:txBody>
      </p:sp>
      <p:sp>
        <p:nvSpPr>
          <p:cNvPr id="35" name="Shape 20"/>
          <p:cNvSpPr/>
          <p:nvPr/>
        </p:nvSpPr>
        <p:spPr>
          <a:xfrm>
            <a:off x="6184900" y="3302000"/>
            <a:ext cx="5194300" cy="2546350"/>
          </a:xfrm>
          <a:prstGeom prst="roundRect">
            <a:avLst>
              <a:gd name="adj" fmla="val 6983"/>
            </a:avLst>
          </a:prstGeom>
          <a:solidFill>
            <a:srgbClr val="FFB020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sp>
        <p:nvSpPr>
          <p:cNvPr id="36" name="Text 21"/>
          <p:cNvSpPr/>
          <p:nvPr/>
        </p:nvSpPr>
        <p:spPr>
          <a:xfrm>
            <a:off x="6413500" y="3530600"/>
            <a:ext cx="4879213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Backend and data connectivity</a:t>
            </a:r>
            <a:endParaRPr lang="en-US" sz="1900" dirty="0"/>
          </a:p>
        </p:txBody>
      </p:sp>
      <p:sp>
        <p:nvSpPr>
          <p:cNvPr id="37" name="Text 22"/>
          <p:cNvSpPr/>
          <p:nvPr/>
        </p:nvSpPr>
        <p:spPr>
          <a:xfrm>
            <a:off x="6818445" y="4066646"/>
            <a:ext cx="3584194" cy="77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Flask APIs and logic query the SQLite database, so every page reads from one connected data source. 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B1D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3B1D6E"/>
              </a:gs>
              <a:gs pos="100000">
                <a:srgbClr val="7A1F5C"/>
              </a:gs>
            </a:gsLst>
            <a:lin ang="2700000" scaled="0"/>
          </a:gradFill>
          <a:ln/>
        </p:spPr>
      </p:sp>
      <p:pic>
        <p:nvPicPr>
          <p:cNvPr id="3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5000" y="0"/>
            <a:ext cx="2667000" cy="2667000"/>
          </a:xfrm>
          <a:prstGeom prst="rect">
            <a:avLst/>
          </a:prstGeom>
        </p:spPr>
      </p:pic>
      <p:pic>
        <p:nvPicPr>
          <p:cNvPr id="4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4445000"/>
            <a:ext cx="2286000" cy="2286000"/>
          </a:xfrm>
          <a:prstGeom prst="rect">
            <a:avLst/>
          </a:prstGeom>
        </p:spPr>
      </p:pic>
      <p:pic>
        <p:nvPicPr>
          <p:cNvPr id="5" name="Image 2" descr="ellip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477500" y="4953000"/>
            <a:ext cx="1270000" cy="1270000"/>
          </a:xfrm>
          <a:prstGeom prst="rect">
            <a:avLst/>
          </a:prstGeom>
        </p:spPr>
      </p:pic>
      <p:sp>
        <p:nvSpPr>
          <p:cNvPr id="6" name="Text 1"/>
          <p:cNvSpPr/>
          <p:nvPr>
            <p:ph type="title"/>
          </p:nvPr>
        </p:nvSpPr>
        <p:spPr>
          <a:xfrm>
            <a:off x="812800" y="71120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FF3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Website features</a:t>
            </a:r>
            <a:endParaRPr lang="en-US" sz="3200" dirty="0"/>
          </a:p>
        </p:txBody>
      </p:sp>
      <p:pic>
        <p:nvPicPr>
          <p:cNvPr id="7" name="Image 3" descr="lin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2800" y="1285215"/>
            <a:ext cx="1143000" cy="63500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812800" y="1600200"/>
            <a:ext cx="2527300" cy="1349640"/>
          </a:xfrm>
          <a:prstGeom prst="roundRect">
            <a:avLst>
              <a:gd name="adj" fmla="val 11292"/>
            </a:avLst>
          </a:prstGeom>
          <a:solidFill>
            <a:srgbClr val="FF5D5D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sp>
        <p:nvSpPr>
          <p:cNvPr id="9" name="Text 3"/>
          <p:cNvSpPr/>
          <p:nvPr/>
        </p:nvSpPr>
        <p:spPr>
          <a:xfrm>
            <a:off x="990600" y="1778000"/>
            <a:ext cx="2236851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Home</a:t>
            </a:r>
            <a:endParaRPr lang="en-US" sz="1700" dirty="0"/>
          </a:p>
        </p:txBody>
      </p:sp>
      <p:sp>
        <p:nvSpPr>
          <p:cNvPr id="10" name="Text 4"/>
          <p:cNvSpPr/>
          <p:nvPr/>
        </p:nvSpPr>
        <p:spPr>
          <a:xfrm>
            <a:off x="990600" y="2100529"/>
            <a:ext cx="2236851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Landing page and overview. </a:t>
            </a:r>
            <a:endParaRPr lang="en-US" sz="1300" dirty="0"/>
          </a:p>
        </p:txBody>
      </p:sp>
      <p:sp>
        <p:nvSpPr>
          <p:cNvPr id="11" name="Shape 5"/>
          <p:cNvSpPr/>
          <p:nvPr/>
        </p:nvSpPr>
        <p:spPr>
          <a:xfrm>
            <a:off x="3492500" y="1600200"/>
            <a:ext cx="2527300" cy="1349640"/>
          </a:xfrm>
          <a:prstGeom prst="roundRect">
            <a:avLst>
              <a:gd name="adj" fmla="val 11292"/>
            </a:avLst>
          </a:prstGeom>
          <a:solidFill>
            <a:srgbClr val="FFB020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sp>
        <p:nvSpPr>
          <p:cNvPr id="12" name="Text 6"/>
          <p:cNvSpPr/>
          <p:nvPr/>
        </p:nvSpPr>
        <p:spPr>
          <a:xfrm>
            <a:off x="3670300" y="1778000"/>
            <a:ext cx="2236851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Destinations</a:t>
            </a:r>
            <a:endParaRPr lang="en-US" sz="1700" dirty="0"/>
          </a:p>
        </p:txBody>
      </p:sp>
      <p:sp>
        <p:nvSpPr>
          <p:cNvPr id="13" name="Text 7"/>
          <p:cNvSpPr/>
          <p:nvPr/>
        </p:nvSpPr>
        <p:spPr>
          <a:xfrm>
            <a:off x="3670300" y="2100529"/>
            <a:ext cx="2236851" cy="69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Browse attractions with rating, reviews and entry fee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6172200" y="1600200"/>
            <a:ext cx="2527300" cy="1349640"/>
          </a:xfrm>
          <a:prstGeom prst="roundRect">
            <a:avLst>
              <a:gd name="adj" fmla="val 11292"/>
            </a:avLst>
          </a:prstGeom>
          <a:solidFill>
            <a:srgbClr val="12D6B0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sp>
        <p:nvSpPr>
          <p:cNvPr id="15" name="Text 9"/>
          <p:cNvSpPr/>
          <p:nvPr/>
        </p:nvSpPr>
        <p:spPr>
          <a:xfrm>
            <a:off x="6350000" y="1778000"/>
            <a:ext cx="2236851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Trip planner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6350000" y="2100529"/>
            <a:ext cx="2236851" cy="69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Builds an itinerary from budget and available time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8851900" y="1600200"/>
            <a:ext cx="2527300" cy="1349640"/>
          </a:xfrm>
          <a:prstGeom prst="roundRect">
            <a:avLst>
              <a:gd name="adj" fmla="val 11292"/>
            </a:avLst>
          </a:prstGeom>
          <a:solidFill>
            <a:srgbClr val="FF5D5D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9029700" y="1778000"/>
            <a:ext cx="2236851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Saved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9029700" y="2100529"/>
            <a:ext cx="2236851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Places saved to a personal collection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812800" y="3102242"/>
            <a:ext cx="2527300" cy="1126860"/>
          </a:xfrm>
          <a:prstGeom prst="roundRect">
            <a:avLst>
              <a:gd name="adj" fmla="val 13524"/>
            </a:avLst>
          </a:prstGeom>
          <a:solidFill>
            <a:srgbClr val="FFB020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990600" y="3280042"/>
            <a:ext cx="2236851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Trip History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990600" y="3602568"/>
            <a:ext cx="2236851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Saved itineraries to view, edit or delete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3492500" y="3102242"/>
            <a:ext cx="2527300" cy="1126860"/>
          </a:xfrm>
          <a:prstGeom prst="roundRect">
            <a:avLst>
              <a:gd name="adj" fmla="val 13524"/>
            </a:avLst>
          </a:prstGeom>
          <a:solidFill>
            <a:srgbClr val="12D6B0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3670300" y="3280042"/>
            <a:ext cx="2236851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 a trip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3670300" y="3602568"/>
            <a:ext cx="2236851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Shortcut button to start planning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6172200" y="3102242"/>
            <a:ext cx="2527300" cy="1126860"/>
          </a:xfrm>
          <a:prstGeom prst="roundRect">
            <a:avLst>
              <a:gd name="adj" fmla="val 13524"/>
            </a:avLst>
          </a:prstGeom>
          <a:solidFill>
            <a:srgbClr val="B69CFF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6350000" y="3280042"/>
            <a:ext cx="2236851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Insights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6350000" y="3602568"/>
            <a:ext cx="2236851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Charts of attractions by state and type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8851900" y="3102242"/>
            <a:ext cx="2527300" cy="1126860"/>
          </a:xfrm>
          <a:prstGeom prst="roundRect">
            <a:avLst>
              <a:gd name="adj" fmla="val 13524"/>
            </a:avLst>
          </a:prstGeom>
          <a:solidFill>
            <a:srgbClr val="5BC8FA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9029700" y="3280042"/>
            <a:ext cx="2236851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Travel quiz</a:t>
            </a:r>
            <a:endParaRPr lang="en-US" sz="1700" dirty="0"/>
          </a:p>
        </p:txBody>
      </p:sp>
      <p:sp>
        <p:nvSpPr>
          <p:cNvPr id="31" name="Text 25"/>
          <p:cNvSpPr/>
          <p:nvPr/>
        </p:nvSpPr>
        <p:spPr>
          <a:xfrm>
            <a:off x="9029700" y="3602568"/>
            <a:ext cx="2236851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[Short quiz that describes the travller you are ]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A1038"/>
              </a:gs>
              <a:gs pos="100000">
                <a:srgbClr val="3B1D6E"/>
              </a:gs>
            </a:gsLst>
            <a:lin ang="2700000" scaled="0"/>
          </a:gradFill>
          <a:ln/>
        </p:spPr>
      </p:sp>
      <p:pic>
        <p:nvPicPr>
          <p:cNvPr id="3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5000" y="0"/>
            <a:ext cx="2667000" cy="2667000"/>
          </a:xfrm>
          <a:prstGeom prst="rect">
            <a:avLst/>
          </a:prstGeom>
        </p:spPr>
      </p:pic>
      <p:pic>
        <p:nvPicPr>
          <p:cNvPr id="4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4445000"/>
            <a:ext cx="2286000" cy="2286000"/>
          </a:xfrm>
          <a:prstGeom prst="rect">
            <a:avLst/>
          </a:prstGeom>
        </p:spPr>
      </p:pic>
      <p:pic>
        <p:nvPicPr>
          <p:cNvPr id="5" name="Image 2" descr="ellip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477500" y="4953000"/>
            <a:ext cx="1270000" cy="1270000"/>
          </a:xfrm>
          <a:prstGeom prst="rect">
            <a:avLst/>
          </a:prstGeom>
        </p:spPr>
      </p:pic>
      <p:sp>
        <p:nvSpPr>
          <p:cNvPr id="6" name="Text 1"/>
          <p:cNvSpPr/>
          <p:nvPr>
            <p:ph type="title"/>
          </p:nvPr>
        </p:nvSpPr>
        <p:spPr>
          <a:xfrm>
            <a:off x="812800" y="71120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FF3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Insights: where to go</a:t>
            </a:r>
            <a:endParaRPr lang="en-US" sz="3200" dirty="0"/>
          </a:p>
        </p:txBody>
      </p:sp>
      <p:pic>
        <p:nvPicPr>
          <p:cNvPr id="7" name="Image 3" descr="lin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2800" y="1285215"/>
            <a:ext cx="1143000" cy="63500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812800" y="1602715"/>
            <a:ext cx="6756400" cy="4239287"/>
          </a:xfrm>
          <a:prstGeom prst="roundRect">
            <a:avLst>
              <a:gd name="adj" fmla="val 3595"/>
            </a:avLst>
          </a:prstGeom>
          <a:solidFill>
            <a:srgbClr val="FFF3E0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4" descr="Insights: where to go screensho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238" y="1678915"/>
            <a:ext cx="6289524" cy="3302000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7747000" y="1602715"/>
            <a:ext cx="3632200" cy="4239287"/>
          </a:xfrm>
          <a:prstGeom prst="roundRect">
            <a:avLst>
              <a:gd name="adj" fmla="val 4895"/>
            </a:avLst>
          </a:prstGeom>
          <a:solidFill>
            <a:srgbClr val="12D6B0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sp>
        <p:nvSpPr>
          <p:cNvPr id="11" name="Text 4"/>
          <p:cNvSpPr/>
          <p:nvPr/>
        </p:nvSpPr>
        <p:spPr>
          <a:xfrm>
            <a:off x="7950200" y="1805915"/>
            <a:ext cx="3322574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it helps</a:t>
            </a:r>
            <a:endParaRPr lang="en-US" sz="1800" dirty="0"/>
          </a:p>
        </p:txBody>
      </p:sp>
      <p:sp>
        <p:nvSpPr>
          <p:cNvPr id="12" name="Text 5"/>
          <p:cNvSpPr/>
          <p:nvPr/>
        </p:nvSpPr>
        <p:spPr>
          <a:xfrm>
            <a:off x="7950200" y="2194520"/>
            <a:ext cx="3322574" cy="7197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Shows how attractions are spread across states, so travellers see where choices are richest.</a:t>
            </a:r>
            <a:endParaRPr lang="en-US" sz="1350" dirty="0"/>
          </a:p>
        </p:txBody>
      </p:sp>
      <p:sp>
        <p:nvSpPr>
          <p:cNvPr id="13" name="Text 6"/>
          <p:cNvSpPr/>
          <p:nvPr/>
        </p:nvSpPr>
        <p:spPr>
          <a:xfrm>
            <a:off x="7950200" y="3003153"/>
            <a:ext cx="3322574" cy="7197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Shows the mix of attraction types, so a trip can be matched to personal interests.</a:t>
            </a:r>
            <a:endParaRPr lang="en-US" sz="1350" dirty="0"/>
          </a:p>
        </p:txBody>
      </p:sp>
      <p:sp>
        <p:nvSpPr>
          <p:cNvPr id="14" name="Text 7"/>
          <p:cNvSpPr/>
          <p:nvPr/>
        </p:nvSpPr>
        <p:spPr>
          <a:xfrm>
            <a:off x="7950200" y="3811786"/>
            <a:ext cx="3322574" cy="7197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Charts are drawn from the same connected database as the rest of the site.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F2A4A"/>
              </a:gs>
              <a:gs pos="100000">
                <a:srgbClr val="1A1038"/>
              </a:gs>
            </a:gsLst>
            <a:lin ang="2700000" scaled="0"/>
          </a:gradFill>
          <a:ln/>
        </p:spPr>
      </p:sp>
      <p:pic>
        <p:nvPicPr>
          <p:cNvPr id="3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2413000" cy="2413000"/>
          </a:xfrm>
          <a:prstGeom prst="rect">
            <a:avLst/>
          </a:prstGeom>
        </p:spPr>
      </p:pic>
      <p:pic>
        <p:nvPicPr>
          <p:cNvPr id="4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906000" y="4064000"/>
            <a:ext cx="2667000" cy="2667000"/>
          </a:xfrm>
          <a:prstGeom prst="rect">
            <a:avLst/>
          </a:prstGeom>
        </p:spPr>
      </p:pic>
      <p:pic>
        <p:nvPicPr>
          <p:cNvPr id="5" name="Image 2" descr="ellip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63000" y="0"/>
            <a:ext cx="1016000" cy="1016000"/>
          </a:xfrm>
          <a:prstGeom prst="rect">
            <a:avLst/>
          </a:prstGeom>
        </p:spPr>
      </p:pic>
      <p:sp>
        <p:nvSpPr>
          <p:cNvPr id="6" name="Text 1"/>
          <p:cNvSpPr/>
          <p:nvPr>
            <p:ph type="title"/>
          </p:nvPr>
        </p:nvSpPr>
        <p:spPr>
          <a:xfrm>
            <a:off x="812800" y="71120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FF3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Destinations: comparing places</a:t>
            </a:r>
            <a:endParaRPr lang="en-US" sz="3200" dirty="0"/>
          </a:p>
        </p:txBody>
      </p:sp>
      <p:pic>
        <p:nvPicPr>
          <p:cNvPr id="7" name="Image 3" descr="lin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2800" y="1285215"/>
            <a:ext cx="1143000" cy="63500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812800" y="1602715"/>
            <a:ext cx="6756400" cy="4239287"/>
          </a:xfrm>
          <a:prstGeom prst="roundRect">
            <a:avLst>
              <a:gd name="adj" fmla="val 3595"/>
            </a:avLst>
          </a:prstGeom>
          <a:solidFill>
            <a:srgbClr val="FFF3E0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4" descr="Destinations: comparing places screenshot">    </p:cNvPr>
          <p:cNvPicPr>
            <a:picLocks noChangeAspect="1"/>
          </p:cNvPicPr>
          <p:nvPr/>
        </p:nvPicPr>
        <p:blipFill>
          <a:blip r:embed="rId5"/>
          <a:srcRect l="0" r="0" t="-251" b="-251"/>
          <a:stretch/>
        </p:blipFill>
        <p:spPr>
          <a:xfrm>
            <a:off x="889000" y="1678915"/>
            <a:ext cx="6604000" cy="3302000"/>
          </a:xfrm>
          <a:prstGeom prst="roundRect">
            <a:avLst>
              <a:gd name="adj" fmla="val 2692"/>
            </a:avLst>
          </a:prstGeom>
        </p:spPr>
      </p:pic>
      <p:sp>
        <p:nvSpPr>
          <p:cNvPr id="10" name="Shape 3"/>
          <p:cNvSpPr/>
          <p:nvPr/>
        </p:nvSpPr>
        <p:spPr>
          <a:xfrm>
            <a:off x="7747000" y="1602715"/>
            <a:ext cx="3632200" cy="4239287"/>
          </a:xfrm>
          <a:prstGeom prst="roundRect">
            <a:avLst>
              <a:gd name="adj" fmla="val 4895"/>
            </a:avLst>
          </a:prstGeom>
          <a:solidFill>
            <a:srgbClr val="FFB020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sp>
        <p:nvSpPr>
          <p:cNvPr id="11" name="Text 4"/>
          <p:cNvSpPr/>
          <p:nvPr/>
        </p:nvSpPr>
        <p:spPr>
          <a:xfrm>
            <a:off x="7950200" y="1805915"/>
            <a:ext cx="3322574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it helps</a:t>
            </a:r>
            <a:endParaRPr lang="en-US" sz="1800" dirty="0"/>
          </a:p>
        </p:txBody>
      </p:sp>
      <p:sp>
        <p:nvSpPr>
          <p:cNvPr id="12" name="Text 5"/>
          <p:cNvSpPr/>
          <p:nvPr/>
        </p:nvSpPr>
        <p:spPr>
          <a:xfrm>
            <a:off x="7950200" y="2194520"/>
            <a:ext cx="3322574" cy="7197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Lists attractions with location, rating, reviews and entry fee in one table.</a:t>
            </a:r>
            <a:endParaRPr lang="en-US" sz="1350" dirty="0"/>
          </a:p>
        </p:txBody>
      </p:sp>
      <p:sp>
        <p:nvSpPr>
          <p:cNvPr id="13" name="Text 6"/>
          <p:cNvSpPr/>
          <p:nvPr/>
        </p:nvSpPr>
        <p:spPr>
          <a:xfrm>
            <a:off x="7950200" y="3003153"/>
            <a:ext cx="3322574" cy="4882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Ratings and review counts show how popular a place is.</a:t>
            </a:r>
            <a:endParaRPr lang="en-US" sz="1350" dirty="0"/>
          </a:p>
        </p:txBody>
      </p:sp>
      <p:sp>
        <p:nvSpPr>
          <p:cNvPr id="14" name="Text 7"/>
          <p:cNvSpPr/>
          <p:nvPr/>
        </p:nvSpPr>
        <p:spPr>
          <a:xfrm>
            <a:off x="7950200" y="3580343"/>
            <a:ext cx="3322574" cy="4882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Entry fees help travellers judge cost before they plan.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B1D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3B1D6E"/>
              </a:gs>
              <a:gs pos="100000">
                <a:srgbClr val="7A1F5C"/>
              </a:gs>
            </a:gsLst>
            <a:lin ang="2700000" scaled="0"/>
          </a:gradFill>
          <a:ln/>
        </p:spPr>
      </p:sp>
      <p:pic>
        <p:nvPicPr>
          <p:cNvPr id="3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5000" y="0"/>
            <a:ext cx="2667000" cy="2667000"/>
          </a:xfrm>
          <a:prstGeom prst="rect">
            <a:avLst/>
          </a:prstGeom>
        </p:spPr>
      </p:pic>
      <p:pic>
        <p:nvPicPr>
          <p:cNvPr id="4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4445000"/>
            <a:ext cx="2286000" cy="2286000"/>
          </a:xfrm>
          <a:prstGeom prst="rect">
            <a:avLst/>
          </a:prstGeom>
        </p:spPr>
      </p:pic>
      <p:pic>
        <p:nvPicPr>
          <p:cNvPr id="5" name="Image 2" descr="ellip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477500" y="4953000"/>
            <a:ext cx="1270000" cy="1270000"/>
          </a:xfrm>
          <a:prstGeom prst="rect">
            <a:avLst/>
          </a:prstGeom>
        </p:spPr>
      </p:pic>
      <p:sp>
        <p:nvSpPr>
          <p:cNvPr id="6" name="Text 1"/>
          <p:cNvSpPr/>
          <p:nvPr>
            <p:ph type="title"/>
          </p:nvPr>
        </p:nvSpPr>
        <p:spPr>
          <a:xfrm>
            <a:off x="812800" y="71120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FF3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Trip planner: building an itinerary</a:t>
            </a:r>
            <a:endParaRPr lang="en-US" sz="3200" dirty="0"/>
          </a:p>
        </p:txBody>
      </p:sp>
      <p:pic>
        <p:nvPicPr>
          <p:cNvPr id="7" name="Image 3" descr="lin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2800" y="1285215"/>
            <a:ext cx="1143000" cy="63500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812800" y="1602715"/>
            <a:ext cx="6756400" cy="4239287"/>
          </a:xfrm>
          <a:prstGeom prst="roundRect">
            <a:avLst>
              <a:gd name="adj" fmla="val 3595"/>
            </a:avLst>
          </a:prstGeom>
          <a:solidFill>
            <a:srgbClr val="FFF3E0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4" descr="Trip planner: building an itinerary screensho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510" y="1678915"/>
            <a:ext cx="6372979" cy="3302000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7747000" y="1602715"/>
            <a:ext cx="3632200" cy="4239287"/>
          </a:xfrm>
          <a:prstGeom prst="roundRect">
            <a:avLst>
              <a:gd name="adj" fmla="val 4895"/>
            </a:avLst>
          </a:prstGeom>
          <a:solidFill>
            <a:srgbClr val="B69CFF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sp>
        <p:nvSpPr>
          <p:cNvPr id="11" name="Text 4"/>
          <p:cNvSpPr/>
          <p:nvPr/>
        </p:nvSpPr>
        <p:spPr>
          <a:xfrm>
            <a:off x="7950200" y="1805915"/>
            <a:ext cx="3322574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it helps</a:t>
            </a:r>
            <a:endParaRPr lang="en-US" sz="1800" dirty="0"/>
          </a:p>
        </p:txBody>
      </p:sp>
      <p:sp>
        <p:nvSpPr>
          <p:cNvPr id="12" name="Text 5"/>
          <p:cNvSpPr/>
          <p:nvPr/>
        </p:nvSpPr>
        <p:spPr>
          <a:xfrm>
            <a:off x="7950200" y="2194520"/>
            <a:ext cx="3322574" cy="4882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Traveller sets a budget and available time.</a:t>
            </a:r>
            <a:endParaRPr lang="en-US" sz="1350" dirty="0"/>
          </a:p>
        </p:txBody>
      </p:sp>
      <p:sp>
        <p:nvSpPr>
          <p:cNvPr id="13" name="Text 6"/>
          <p:cNvSpPr/>
          <p:nvPr/>
        </p:nvSpPr>
        <p:spPr>
          <a:xfrm>
            <a:off x="7950200" y="2771710"/>
            <a:ext cx="3322574" cy="4882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The planner selects places and adds up entrance fees and visit time.</a:t>
            </a:r>
            <a:endParaRPr lang="en-US" sz="1350" dirty="0"/>
          </a:p>
        </p:txBody>
      </p:sp>
      <p:sp>
        <p:nvSpPr>
          <p:cNvPr id="14" name="Text 7"/>
          <p:cNvSpPr/>
          <p:nvPr/>
        </p:nvSpPr>
        <p:spPr>
          <a:xfrm>
            <a:off x="7950200" y="3348899"/>
            <a:ext cx="3322574" cy="7197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Shows budget remaining and places selected, and the itinerary can be downloaded as a PDF.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F2A4A"/>
              </a:gs>
              <a:gs pos="100000">
                <a:srgbClr val="1A1038"/>
              </a:gs>
            </a:gsLst>
            <a:lin ang="2700000" scaled="0"/>
          </a:gradFill>
          <a:ln/>
        </p:spPr>
      </p:sp>
      <p:pic>
        <p:nvPicPr>
          <p:cNvPr id="3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2413000" cy="2413000"/>
          </a:xfrm>
          <a:prstGeom prst="rect">
            <a:avLst/>
          </a:prstGeom>
        </p:spPr>
      </p:pic>
      <p:pic>
        <p:nvPicPr>
          <p:cNvPr id="4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906000" y="4064000"/>
            <a:ext cx="2667000" cy="2667000"/>
          </a:xfrm>
          <a:prstGeom prst="rect">
            <a:avLst/>
          </a:prstGeom>
        </p:spPr>
      </p:pic>
      <p:pic>
        <p:nvPicPr>
          <p:cNvPr id="5" name="Image 2" descr="ellip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63000" y="0"/>
            <a:ext cx="1016000" cy="1016000"/>
          </a:xfrm>
          <a:prstGeom prst="rect">
            <a:avLst/>
          </a:prstGeom>
        </p:spPr>
      </p:pic>
      <p:sp>
        <p:nvSpPr>
          <p:cNvPr id="6" name="Text 1"/>
          <p:cNvSpPr/>
          <p:nvPr>
            <p:ph type="title"/>
          </p:nvPr>
        </p:nvSpPr>
        <p:spPr>
          <a:xfrm>
            <a:off x="812800" y="71120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FF3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Saved places and trip history</a:t>
            </a:r>
            <a:endParaRPr lang="en-US" sz="3200" dirty="0"/>
          </a:p>
        </p:txBody>
      </p:sp>
      <p:pic>
        <p:nvPicPr>
          <p:cNvPr id="7" name="Image 3" descr="lin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2800" y="1285218"/>
            <a:ext cx="1143000" cy="63500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812800" y="1602718"/>
            <a:ext cx="5194300" cy="2755900"/>
          </a:xfrm>
          <a:prstGeom prst="roundRect">
            <a:avLst>
              <a:gd name="adj" fmla="val 5530"/>
            </a:avLst>
          </a:prstGeom>
          <a:solidFill>
            <a:srgbClr val="FFF3E0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4" descr="Saved: keep the places you like in a personal collection to revisit later.">    </p:cNvPr>
          <p:cNvPicPr>
            <a:picLocks noChangeAspect="1"/>
          </p:cNvPicPr>
          <p:nvPr/>
        </p:nvPicPr>
        <p:blipFill>
          <a:blip r:embed="rId5"/>
          <a:srcRect l="-338" r="-338" t="0" b="0"/>
          <a:stretch/>
        </p:blipFill>
        <p:spPr>
          <a:xfrm>
            <a:off x="889000" y="1678918"/>
            <a:ext cx="5016500" cy="2603500"/>
          </a:xfrm>
          <a:prstGeom prst="roundRect">
            <a:avLst>
              <a:gd name="adj" fmla="val 3415"/>
            </a:avLst>
          </a:prstGeom>
        </p:spPr>
      </p:pic>
      <p:sp>
        <p:nvSpPr>
          <p:cNvPr id="10" name="Text 3"/>
          <p:cNvSpPr/>
          <p:nvPr/>
        </p:nvSpPr>
        <p:spPr>
          <a:xfrm>
            <a:off x="812800" y="4447518"/>
            <a:ext cx="5350129" cy="505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3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Saved: keep the places you like in a personal collection to revisit later.</a:t>
            </a:r>
            <a:endParaRPr lang="en-US" sz="1400" dirty="0"/>
          </a:p>
        </p:txBody>
      </p:sp>
      <p:sp>
        <p:nvSpPr>
          <p:cNvPr id="11" name="Shape 4"/>
          <p:cNvSpPr/>
          <p:nvPr/>
        </p:nvSpPr>
        <p:spPr>
          <a:xfrm>
            <a:off x="6184900" y="1602718"/>
            <a:ext cx="5194300" cy="2755900"/>
          </a:xfrm>
          <a:prstGeom prst="roundRect">
            <a:avLst>
              <a:gd name="adj" fmla="val 5530"/>
            </a:avLst>
          </a:prstGeom>
          <a:solidFill>
            <a:srgbClr val="FFF3E0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5" descr="Trip History: store planned itineraries and view, edit or delete them later.">    </p:cNvPr>
          <p:cNvPicPr>
            <a:picLocks noChangeAspect="1"/>
          </p:cNvPicPr>
          <p:nvPr/>
        </p:nvPicPr>
        <p:blipFill>
          <a:blip r:embed="rId6"/>
          <a:srcRect l="-459" r="-459" t="0" b="0"/>
          <a:stretch/>
        </p:blipFill>
        <p:spPr>
          <a:xfrm>
            <a:off x="6261100" y="1678918"/>
            <a:ext cx="5016500" cy="2603500"/>
          </a:xfrm>
          <a:prstGeom prst="roundRect">
            <a:avLst>
              <a:gd name="adj" fmla="val 3415"/>
            </a:avLst>
          </a:prstGeom>
        </p:spPr>
      </p:pic>
      <p:sp>
        <p:nvSpPr>
          <p:cNvPr id="13" name="Text 5"/>
          <p:cNvSpPr/>
          <p:nvPr/>
        </p:nvSpPr>
        <p:spPr>
          <a:xfrm>
            <a:off x="6184900" y="4447518"/>
            <a:ext cx="5350129" cy="505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3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Trip History: store planned itineraries and view, edit or delete them later.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A1038"/>
              </a:gs>
              <a:gs pos="100000">
                <a:srgbClr val="3B1D6E"/>
              </a:gs>
            </a:gsLst>
            <a:lin ang="2700000" scaled="0"/>
          </a:gradFill>
          <a:ln/>
        </p:spPr>
      </p:sp>
      <p:pic>
        <p:nvPicPr>
          <p:cNvPr id="3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5000" y="0"/>
            <a:ext cx="2667000" cy="2667000"/>
          </a:xfrm>
          <a:prstGeom prst="rect">
            <a:avLst/>
          </a:prstGeom>
        </p:spPr>
      </p:pic>
      <p:pic>
        <p:nvPicPr>
          <p:cNvPr id="4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4445000"/>
            <a:ext cx="2286000" cy="2286000"/>
          </a:xfrm>
          <a:prstGeom prst="rect">
            <a:avLst/>
          </a:prstGeom>
        </p:spPr>
      </p:pic>
      <p:pic>
        <p:nvPicPr>
          <p:cNvPr id="5" name="Image 2" descr="ellip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477500" y="4953000"/>
            <a:ext cx="1270000" cy="1270000"/>
          </a:xfrm>
          <a:prstGeom prst="rect">
            <a:avLst/>
          </a:prstGeom>
        </p:spPr>
      </p:pic>
      <p:sp>
        <p:nvSpPr>
          <p:cNvPr id="6" name="Text 1"/>
          <p:cNvSpPr/>
          <p:nvPr>
            <p:ph type="title"/>
          </p:nvPr>
        </p:nvSpPr>
        <p:spPr>
          <a:xfrm>
            <a:off x="812800" y="71120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FF3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Backend in depth: request flow</a:t>
            </a:r>
            <a:endParaRPr lang="en-US" sz="3200" dirty="0"/>
          </a:p>
        </p:txBody>
      </p:sp>
      <p:pic>
        <p:nvPicPr>
          <p:cNvPr id="7" name="Image 3" descr="lin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2800" y="1285218"/>
            <a:ext cx="1143000" cy="63500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812800" y="1600200"/>
            <a:ext cx="1767814" cy="1079500"/>
          </a:xfrm>
          <a:prstGeom prst="roundRect">
            <a:avLst>
              <a:gd name="adj" fmla="val 14118"/>
            </a:avLst>
          </a:prstGeom>
          <a:solidFill>
            <a:srgbClr val="FF5D5D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sp>
        <p:nvSpPr>
          <p:cNvPr id="9" name="Text 3"/>
          <p:cNvSpPr/>
          <p:nvPr/>
        </p:nvSpPr>
        <p:spPr>
          <a:xfrm>
            <a:off x="1208630" y="1765300"/>
            <a:ext cx="97615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Browser</a:t>
            </a:r>
            <a:endParaRPr lang="en-US" sz="1500" dirty="0"/>
          </a:p>
        </p:txBody>
      </p:sp>
      <p:sp>
        <p:nvSpPr>
          <p:cNvPr id="10" name="Text 4"/>
          <p:cNvSpPr/>
          <p:nvPr/>
        </p:nvSpPr>
        <p:spPr>
          <a:xfrm>
            <a:off x="1078376" y="2082800"/>
            <a:ext cx="12366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page request</a:t>
            </a:r>
            <a:endParaRPr lang="en-US" sz="1200" dirty="0"/>
          </a:p>
        </p:txBody>
      </p:sp>
      <p:pic>
        <p:nvPicPr>
          <p:cNvPr id="11" name="Image 4" descr="arrow-right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644114" y="2038350"/>
            <a:ext cx="304800" cy="203200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3012414" y="1600200"/>
            <a:ext cx="1767880" cy="1079500"/>
          </a:xfrm>
          <a:prstGeom prst="roundRect">
            <a:avLst>
              <a:gd name="adj" fmla="val 14118"/>
            </a:avLst>
          </a:prstGeom>
          <a:solidFill>
            <a:srgbClr val="FFB020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sp>
        <p:nvSpPr>
          <p:cNvPr id="13" name="Text 6"/>
          <p:cNvSpPr/>
          <p:nvPr/>
        </p:nvSpPr>
        <p:spPr>
          <a:xfrm>
            <a:off x="3172897" y="1765300"/>
            <a:ext cx="1446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Flask routes</a:t>
            </a:r>
            <a:endParaRPr lang="en-US" sz="1500" dirty="0"/>
          </a:p>
        </p:txBody>
      </p:sp>
      <p:sp>
        <p:nvSpPr>
          <p:cNvPr id="14" name="Text 7"/>
          <p:cNvSpPr/>
          <p:nvPr/>
        </p:nvSpPr>
        <p:spPr>
          <a:xfrm>
            <a:off x="3256320" y="2082800"/>
            <a:ext cx="12800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validate input</a:t>
            </a:r>
            <a:endParaRPr lang="en-US" sz="1200" dirty="0"/>
          </a:p>
        </p:txBody>
      </p:sp>
      <p:pic>
        <p:nvPicPr>
          <p:cNvPr id="15" name="Image 5" descr="arrow-right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843793" y="2038350"/>
            <a:ext cx="304800" cy="20320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5212093" y="1600200"/>
            <a:ext cx="1767814" cy="1079500"/>
          </a:xfrm>
          <a:prstGeom prst="roundRect">
            <a:avLst>
              <a:gd name="adj" fmla="val 14118"/>
            </a:avLst>
          </a:prstGeom>
          <a:solidFill>
            <a:srgbClr val="12D6B0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sp>
        <p:nvSpPr>
          <p:cNvPr id="17" name="Text 9"/>
          <p:cNvSpPr/>
          <p:nvPr/>
        </p:nvSpPr>
        <p:spPr>
          <a:xfrm>
            <a:off x="5784850" y="1765300"/>
            <a:ext cx="622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Logic</a:t>
            </a:r>
            <a:endParaRPr lang="en-US" sz="1500" dirty="0"/>
          </a:p>
        </p:txBody>
      </p:sp>
      <p:sp>
        <p:nvSpPr>
          <p:cNvPr id="18" name="Text 10"/>
          <p:cNvSpPr/>
          <p:nvPr/>
        </p:nvSpPr>
        <p:spPr>
          <a:xfrm>
            <a:off x="5250193" y="2082800"/>
            <a:ext cx="169161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plan, aggregate, save</a:t>
            </a:r>
            <a:endParaRPr lang="en-US" sz="1200" dirty="0"/>
          </a:p>
        </p:txBody>
      </p:sp>
      <p:pic>
        <p:nvPicPr>
          <p:cNvPr id="19" name="Image 6" descr="arrow-right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043407" y="2038350"/>
            <a:ext cx="304800" cy="203200"/>
          </a:xfrm>
          <a:prstGeom prst="rect">
            <a:avLst/>
          </a:prstGeom>
        </p:spPr>
      </p:pic>
      <p:sp>
        <p:nvSpPr>
          <p:cNvPr id="20" name="Shape 11"/>
          <p:cNvSpPr/>
          <p:nvPr/>
        </p:nvSpPr>
        <p:spPr>
          <a:xfrm>
            <a:off x="7411707" y="1600200"/>
            <a:ext cx="1767880" cy="1079500"/>
          </a:xfrm>
          <a:prstGeom prst="roundRect">
            <a:avLst>
              <a:gd name="adj" fmla="val 14118"/>
            </a:avLst>
          </a:prstGeom>
          <a:solidFill>
            <a:srgbClr val="B69CFF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sp>
        <p:nvSpPr>
          <p:cNvPr id="21" name="Text 12"/>
          <p:cNvSpPr/>
          <p:nvPr/>
        </p:nvSpPr>
        <p:spPr>
          <a:xfrm>
            <a:off x="7924847" y="1765300"/>
            <a:ext cx="74160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SQLite</a:t>
            </a:r>
            <a:endParaRPr lang="en-US" sz="1500" dirty="0"/>
          </a:p>
        </p:txBody>
      </p:sp>
      <p:sp>
        <p:nvSpPr>
          <p:cNvPr id="22" name="Text 13"/>
          <p:cNvSpPr/>
          <p:nvPr/>
        </p:nvSpPr>
        <p:spPr>
          <a:xfrm>
            <a:off x="7761810" y="2082800"/>
            <a:ext cx="10676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SQL queries</a:t>
            </a:r>
            <a:endParaRPr lang="en-US" sz="1200" dirty="0"/>
          </a:p>
        </p:txBody>
      </p:sp>
      <p:pic>
        <p:nvPicPr>
          <p:cNvPr id="23" name="Image 7" descr="arrow-right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243087" y="2038350"/>
            <a:ext cx="304800" cy="203200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9611387" y="1600200"/>
            <a:ext cx="1767814" cy="1079500"/>
          </a:xfrm>
          <a:prstGeom prst="roundRect">
            <a:avLst>
              <a:gd name="adj" fmla="val 14118"/>
            </a:avLst>
          </a:prstGeom>
          <a:solidFill>
            <a:srgbClr val="5BC8FA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sp>
        <p:nvSpPr>
          <p:cNvPr id="25" name="Text 15"/>
          <p:cNvSpPr/>
          <p:nvPr/>
        </p:nvSpPr>
        <p:spPr>
          <a:xfrm>
            <a:off x="10180254" y="1765300"/>
            <a:ext cx="63007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JSON</a:t>
            </a:r>
            <a:endParaRPr lang="en-US" sz="1500" dirty="0"/>
          </a:p>
        </p:txBody>
      </p:sp>
      <p:sp>
        <p:nvSpPr>
          <p:cNvPr id="26" name="Text 16"/>
          <p:cNvSpPr/>
          <p:nvPr/>
        </p:nvSpPr>
        <p:spPr>
          <a:xfrm>
            <a:off x="9687659" y="2082800"/>
            <a:ext cx="16152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response to page</a:t>
            </a:r>
            <a:endParaRPr lang="en-US" sz="1200" dirty="0"/>
          </a:p>
        </p:txBody>
      </p:sp>
      <p:sp>
        <p:nvSpPr>
          <p:cNvPr id="27" name="Shape 17"/>
          <p:cNvSpPr/>
          <p:nvPr/>
        </p:nvSpPr>
        <p:spPr>
          <a:xfrm>
            <a:off x="812800" y="2933700"/>
            <a:ext cx="3403600" cy="2914650"/>
          </a:xfrm>
          <a:prstGeom prst="roundRect">
            <a:avLst>
              <a:gd name="adj" fmla="val 6100"/>
            </a:avLst>
          </a:prstGeom>
          <a:solidFill>
            <a:srgbClr val="B69CFF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sp>
        <p:nvSpPr>
          <p:cNvPr id="28" name="Text 18"/>
          <p:cNvSpPr/>
          <p:nvPr/>
        </p:nvSpPr>
        <p:spPr>
          <a:xfrm>
            <a:off x="997204" y="3162300"/>
            <a:ext cx="3034792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Routes</a:t>
            </a:r>
            <a:endParaRPr lang="en-US" sz="1900" dirty="0"/>
          </a:p>
        </p:txBody>
      </p:sp>
      <p:sp>
        <p:nvSpPr>
          <p:cNvPr id="29" name="Text 19"/>
          <p:cNvSpPr/>
          <p:nvPr/>
        </p:nvSpPr>
        <p:spPr>
          <a:xfrm>
            <a:off x="1041400" y="3540720"/>
            <a:ext cx="3034792" cy="1352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Each website page calls a Flask route. Routes read the request, check inputs and return JSON. </a:t>
            </a:r>
            <a:endParaRPr lang="en-US" sz="1400" dirty="0"/>
          </a:p>
        </p:txBody>
      </p:sp>
      <p:sp>
        <p:nvSpPr>
          <p:cNvPr id="30" name="Shape 20"/>
          <p:cNvSpPr/>
          <p:nvPr/>
        </p:nvSpPr>
        <p:spPr>
          <a:xfrm>
            <a:off x="4394200" y="2933700"/>
            <a:ext cx="3403600" cy="2914650"/>
          </a:xfrm>
          <a:prstGeom prst="roundRect">
            <a:avLst>
              <a:gd name="adj" fmla="val 6100"/>
            </a:avLst>
          </a:prstGeom>
          <a:solidFill>
            <a:srgbClr val="FFB020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sp>
        <p:nvSpPr>
          <p:cNvPr id="31" name="Text 21"/>
          <p:cNvSpPr/>
          <p:nvPr/>
        </p:nvSpPr>
        <p:spPr>
          <a:xfrm>
            <a:off x="4622800" y="3162300"/>
            <a:ext cx="3034792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Business logic</a:t>
            </a:r>
            <a:endParaRPr lang="en-US" sz="1900" dirty="0"/>
          </a:p>
        </p:txBody>
      </p:sp>
      <p:sp>
        <p:nvSpPr>
          <p:cNvPr id="32" name="Shape 22"/>
          <p:cNvSpPr/>
          <p:nvPr/>
        </p:nvSpPr>
        <p:spPr>
          <a:xfrm>
            <a:off x="7975600" y="2933700"/>
            <a:ext cx="3403600" cy="2914650"/>
          </a:xfrm>
          <a:prstGeom prst="roundRect">
            <a:avLst>
              <a:gd name="adj" fmla="val 6100"/>
            </a:avLst>
          </a:prstGeom>
          <a:solidFill>
            <a:srgbClr val="12D6B0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sp>
        <p:nvSpPr>
          <p:cNvPr id="33" name="Text 23"/>
          <p:cNvSpPr/>
          <p:nvPr/>
        </p:nvSpPr>
        <p:spPr>
          <a:xfrm>
            <a:off x="8204200" y="3162300"/>
            <a:ext cx="3034792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layer</a:t>
            </a:r>
            <a:endParaRPr lang="en-US" sz="1900" dirty="0"/>
          </a:p>
        </p:txBody>
      </p:sp>
      <p:sp>
        <p:nvSpPr>
          <p:cNvPr id="34" name="Text 24"/>
          <p:cNvSpPr/>
          <p:nvPr/>
        </p:nvSpPr>
        <p:spPr>
          <a:xfrm>
            <a:off x="8204200" y="3540720"/>
            <a:ext cx="2498471" cy="1924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SQL queries run through one shared database connection used by every route.</a:t>
            </a:r>
            <a:endParaRPr lang="en-US" sz="1400" dirty="0"/>
          </a:p>
        </p:txBody>
      </p:sp>
      <p:sp>
        <p:nvSpPr>
          <p:cNvPr id="35" name="Text 25"/>
          <p:cNvSpPr/>
          <p:nvPr/>
        </p:nvSpPr>
        <p:spPr>
          <a:xfrm>
            <a:off x="4604808" y="3563938"/>
            <a:ext cx="2117078" cy="1518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Python functions handle the trip-planner rules, insight aggregation, and saving, editing and deleting. 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F2A4A"/>
              </a:gs>
              <a:gs pos="100000">
                <a:srgbClr val="1A1038"/>
              </a:gs>
            </a:gsLst>
            <a:lin ang="2700000" scaled="0"/>
          </a:gradFill>
          <a:ln/>
        </p:spPr>
      </p:sp>
      <p:pic>
        <p:nvPicPr>
          <p:cNvPr id="3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2413000" cy="2413000"/>
          </a:xfrm>
          <a:prstGeom prst="rect">
            <a:avLst/>
          </a:prstGeom>
        </p:spPr>
      </p:pic>
      <p:pic>
        <p:nvPicPr>
          <p:cNvPr id="4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906000" y="4064000"/>
            <a:ext cx="2667000" cy="2667000"/>
          </a:xfrm>
          <a:prstGeom prst="rect">
            <a:avLst/>
          </a:prstGeom>
        </p:spPr>
      </p:pic>
      <p:pic>
        <p:nvPicPr>
          <p:cNvPr id="5" name="Image 2" descr="ellip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63000" y="0"/>
            <a:ext cx="1016000" cy="1016000"/>
          </a:xfrm>
          <a:prstGeom prst="rect">
            <a:avLst/>
          </a:prstGeom>
        </p:spPr>
      </p:pic>
      <p:sp>
        <p:nvSpPr>
          <p:cNvPr id="6" name="Text 1"/>
          <p:cNvSpPr/>
          <p:nvPr>
            <p:ph type="title"/>
          </p:nvPr>
        </p:nvSpPr>
        <p:spPr>
          <a:xfrm>
            <a:off x="812800" y="71120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FF3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Backend in depth: database design</a:t>
            </a:r>
            <a:endParaRPr lang="en-US" sz="3200" dirty="0"/>
          </a:p>
        </p:txBody>
      </p:sp>
      <p:pic>
        <p:nvPicPr>
          <p:cNvPr id="7" name="Image 3" descr="lin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2800" y="1285218"/>
            <a:ext cx="1143000" cy="63500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812800" y="1602718"/>
            <a:ext cx="3403600" cy="4239287"/>
          </a:xfrm>
          <a:prstGeom prst="roundRect">
            <a:avLst>
              <a:gd name="adj" fmla="val 5224"/>
            </a:avLst>
          </a:prstGeom>
          <a:solidFill>
            <a:srgbClr val="5BC8FA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sp>
        <p:nvSpPr>
          <p:cNvPr id="9" name="Text 3"/>
          <p:cNvSpPr/>
          <p:nvPr/>
        </p:nvSpPr>
        <p:spPr>
          <a:xfrm>
            <a:off x="1016000" y="1805918"/>
            <a:ext cx="3087116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Attractions</a:t>
            </a:r>
            <a:endParaRPr lang="en-US" sz="1800" dirty="0"/>
          </a:p>
        </p:txBody>
      </p:sp>
      <p:sp>
        <p:nvSpPr>
          <p:cNvPr id="10" name="Text 4"/>
          <p:cNvSpPr/>
          <p:nvPr/>
        </p:nvSpPr>
        <p:spPr>
          <a:xfrm>
            <a:off x="1016000" y="2156420"/>
            <a:ext cx="308711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name and type</a:t>
            </a:r>
            <a:endParaRPr lang="en-US" sz="1350" dirty="0"/>
          </a:p>
        </p:txBody>
      </p:sp>
      <p:sp>
        <p:nvSpPr>
          <p:cNvPr id="11" name="Text 5"/>
          <p:cNvSpPr/>
          <p:nvPr/>
        </p:nvSpPr>
        <p:spPr>
          <a:xfrm>
            <a:off x="1016000" y="2455466"/>
            <a:ext cx="308711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city and state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1016000" y="2754511"/>
            <a:ext cx="308711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rating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1016000" y="3053556"/>
            <a:ext cx="308711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reviews (lakhs)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1016000" y="3352602"/>
            <a:ext cx="308711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entry fee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1016000" y="3651647"/>
            <a:ext cx="308711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visit duration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1016000" y="3950692"/>
            <a:ext cx="308711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best time to visit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4394200" y="1602718"/>
            <a:ext cx="3403600" cy="4239287"/>
          </a:xfrm>
          <a:prstGeom prst="roundRect">
            <a:avLst>
              <a:gd name="adj" fmla="val 5224"/>
            </a:avLst>
          </a:prstGeom>
          <a:solidFill>
            <a:srgbClr val="FF5D5D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4597400" y="1805918"/>
            <a:ext cx="3087116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Saved places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4597400" y="2156420"/>
            <a:ext cx="308711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reference to an attraction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4597400" y="2455466"/>
            <a:ext cx="320040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added when the heart is tapped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4597400" y="2754511"/>
            <a:ext cx="308711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removed when un-saved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7975600" y="1602718"/>
            <a:ext cx="3403600" cy="4239287"/>
          </a:xfrm>
          <a:prstGeom prst="roundRect">
            <a:avLst>
              <a:gd name="adj" fmla="val 5224"/>
            </a:avLst>
          </a:prstGeom>
          <a:solidFill>
            <a:srgbClr val="FFB020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8178800" y="1805918"/>
            <a:ext cx="3087116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Saved itineraries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8178800" y="2156420"/>
            <a:ext cx="308711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trip name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8178800" y="2455466"/>
            <a:ext cx="308711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created date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8178800" y="2754511"/>
            <a:ext cx="308711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budget and available time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8178800" y="3053556"/>
            <a:ext cx="308711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entrance fees and visit time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8178800" y="3352602"/>
            <a:ext cx="308711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places selected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B1D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3B1D6E"/>
              </a:gs>
              <a:gs pos="100000">
                <a:srgbClr val="7A1F5C"/>
              </a:gs>
            </a:gsLst>
            <a:lin ang="2700000" scaled="0"/>
          </a:gradFill>
          <a:ln/>
        </p:spPr>
      </p:sp>
      <p:pic>
        <p:nvPicPr>
          <p:cNvPr id="3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5000" y="0"/>
            <a:ext cx="2667000" cy="2667000"/>
          </a:xfrm>
          <a:prstGeom prst="rect">
            <a:avLst/>
          </a:prstGeom>
        </p:spPr>
      </p:pic>
      <p:pic>
        <p:nvPicPr>
          <p:cNvPr id="4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4445000"/>
            <a:ext cx="2286000" cy="2286000"/>
          </a:xfrm>
          <a:prstGeom prst="rect">
            <a:avLst/>
          </a:prstGeom>
        </p:spPr>
      </p:pic>
      <p:pic>
        <p:nvPicPr>
          <p:cNvPr id="5" name="Image 2" descr="ellip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477500" y="4953000"/>
            <a:ext cx="1270000" cy="1270000"/>
          </a:xfrm>
          <a:prstGeom prst="rect">
            <a:avLst/>
          </a:prstGeom>
        </p:spPr>
      </p:pic>
      <p:sp>
        <p:nvSpPr>
          <p:cNvPr id="6" name="Text 1"/>
          <p:cNvSpPr/>
          <p:nvPr>
            <p:ph type="title"/>
          </p:nvPr>
        </p:nvSpPr>
        <p:spPr>
          <a:xfrm>
            <a:off x="812800" y="71120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FF3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Backend in depth: APIs and planner logic</a:t>
            </a:r>
            <a:endParaRPr lang="en-US" sz="3200" dirty="0"/>
          </a:p>
        </p:txBody>
      </p:sp>
      <p:pic>
        <p:nvPicPr>
          <p:cNvPr id="7" name="Image 3" descr="lin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2800" y="1285218"/>
            <a:ext cx="1143000" cy="63500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812800" y="1602718"/>
            <a:ext cx="5228762" cy="776684"/>
          </a:xfrm>
          <a:prstGeom prst="roundRect">
            <a:avLst>
              <a:gd name="adj" fmla="val 16352"/>
            </a:avLst>
          </a:prstGeom>
          <a:solidFill>
            <a:srgbClr val="FF5D5D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sp>
        <p:nvSpPr>
          <p:cNvPr id="9" name="Text 3"/>
          <p:cNvSpPr/>
          <p:nvPr/>
        </p:nvSpPr>
        <p:spPr>
          <a:xfrm>
            <a:off x="990600" y="1746585"/>
            <a:ext cx="501935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Destinations</a:t>
            </a:r>
            <a:endParaRPr lang="en-US" sz="1500" dirty="0"/>
          </a:p>
        </p:txBody>
      </p:sp>
      <p:sp>
        <p:nvSpPr>
          <p:cNvPr id="10" name="Text 4"/>
          <p:cNvSpPr/>
          <p:nvPr/>
        </p:nvSpPr>
        <p:spPr>
          <a:xfrm>
            <a:off x="990600" y="2013285"/>
            <a:ext cx="501935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list and filter attractions with rating, reviews and fee</a:t>
            </a:r>
            <a:endParaRPr lang="en-US" sz="1250" dirty="0"/>
          </a:p>
        </p:txBody>
      </p:sp>
      <p:sp>
        <p:nvSpPr>
          <p:cNvPr id="11" name="Shape 5"/>
          <p:cNvSpPr/>
          <p:nvPr/>
        </p:nvSpPr>
        <p:spPr>
          <a:xfrm>
            <a:off x="812800" y="2468302"/>
            <a:ext cx="5228762" cy="776751"/>
          </a:xfrm>
          <a:prstGeom prst="roundRect">
            <a:avLst>
              <a:gd name="adj" fmla="val 16350"/>
            </a:avLst>
          </a:prstGeom>
          <a:solidFill>
            <a:srgbClr val="FFB020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sp>
        <p:nvSpPr>
          <p:cNvPr id="12" name="Text 6"/>
          <p:cNvSpPr/>
          <p:nvPr/>
        </p:nvSpPr>
        <p:spPr>
          <a:xfrm>
            <a:off x="990600" y="2612169"/>
            <a:ext cx="501935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Insights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990600" y="2878869"/>
            <a:ext cx="501935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counts by state and by type for the charts</a:t>
            </a:r>
            <a:endParaRPr lang="en-US" sz="1250" dirty="0"/>
          </a:p>
        </p:txBody>
      </p:sp>
      <p:sp>
        <p:nvSpPr>
          <p:cNvPr id="14" name="Shape 8"/>
          <p:cNvSpPr/>
          <p:nvPr/>
        </p:nvSpPr>
        <p:spPr>
          <a:xfrm>
            <a:off x="812800" y="3333948"/>
            <a:ext cx="5228762" cy="776751"/>
          </a:xfrm>
          <a:prstGeom prst="roundRect">
            <a:avLst>
              <a:gd name="adj" fmla="val 16350"/>
            </a:avLst>
          </a:prstGeom>
          <a:solidFill>
            <a:srgbClr val="12D6B0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sp>
        <p:nvSpPr>
          <p:cNvPr id="15" name="Text 9"/>
          <p:cNvSpPr/>
          <p:nvPr/>
        </p:nvSpPr>
        <p:spPr>
          <a:xfrm>
            <a:off x="990600" y="3477816"/>
            <a:ext cx="501935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Planner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990600" y="3744516"/>
            <a:ext cx="501935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 an itinerary from budget and time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812800" y="4199601"/>
            <a:ext cx="5228762" cy="776751"/>
          </a:xfrm>
          <a:prstGeom prst="roundRect">
            <a:avLst>
              <a:gd name="adj" fmla="val 16350"/>
            </a:avLst>
          </a:prstGeom>
          <a:solidFill>
            <a:srgbClr val="B69CFF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990600" y="4343468"/>
            <a:ext cx="501935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Saved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990600" y="4610168"/>
            <a:ext cx="501935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add or remove saved places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812800" y="5065254"/>
            <a:ext cx="5228762" cy="776751"/>
          </a:xfrm>
          <a:prstGeom prst="roundRect">
            <a:avLst>
              <a:gd name="adj" fmla="val 16350"/>
            </a:avLst>
          </a:prstGeom>
          <a:solidFill>
            <a:srgbClr val="5BC8FA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990600" y="5209121"/>
            <a:ext cx="501935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Trip history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990600" y="5475821"/>
            <a:ext cx="501935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create, view, edit and delete itineraries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6219362" y="1602718"/>
            <a:ext cx="5159838" cy="4239287"/>
          </a:xfrm>
          <a:prstGeom prst="roundRect">
            <a:avLst>
              <a:gd name="adj" fmla="val 4194"/>
            </a:avLst>
          </a:prstGeom>
          <a:solidFill>
            <a:srgbClr val="B69CFF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6422562" y="1805918"/>
            <a:ext cx="4896041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Planner logic [confirm rule]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6422562" y="2156420"/>
            <a:ext cx="4896041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1. Read the traveller's budget and available time.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6422562" y="2455466"/>
            <a:ext cx="4896041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2. Choose places so total entrance fees stay within budget and total visit time fits the available time.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6422562" y="2977356"/>
            <a:ext cx="4896041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3. Return fees total, time used, budget remaining and places selected.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6422562" y="3499247"/>
            <a:ext cx="4896041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4. Export the result as a PDF.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B1D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3B1D6E"/>
              </a:gs>
              <a:gs pos="100000">
                <a:srgbClr val="7A1F5C"/>
              </a:gs>
            </a:gsLst>
            <a:lin ang="2700000" scaled="0"/>
          </a:gradFill>
          <a:ln/>
        </p:spPr>
      </p:sp>
      <p:pic>
        <p:nvPicPr>
          <p:cNvPr id="3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5000" y="0"/>
            <a:ext cx="2667000" cy="2667000"/>
          </a:xfrm>
          <a:prstGeom prst="rect">
            <a:avLst/>
          </a:prstGeom>
        </p:spPr>
      </p:pic>
      <p:pic>
        <p:nvPicPr>
          <p:cNvPr id="4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4445000"/>
            <a:ext cx="2286000" cy="2286000"/>
          </a:xfrm>
          <a:prstGeom prst="rect">
            <a:avLst/>
          </a:prstGeom>
        </p:spPr>
      </p:pic>
      <p:pic>
        <p:nvPicPr>
          <p:cNvPr id="5" name="Image 2" descr="ellip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477500" y="4953000"/>
            <a:ext cx="1270000" cy="1270000"/>
          </a:xfrm>
          <a:prstGeom prst="rect">
            <a:avLst/>
          </a:prstGeom>
        </p:spPr>
      </p:pic>
      <p:sp>
        <p:nvSpPr>
          <p:cNvPr id="6" name="Text 1"/>
          <p:cNvSpPr/>
          <p:nvPr>
            <p:ph type="title"/>
          </p:nvPr>
        </p:nvSpPr>
        <p:spPr>
          <a:xfrm>
            <a:off x="812800" y="71120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FF3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Conclusion and documentation</a:t>
            </a:r>
            <a:endParaRPr lang="en-US" sz="3200" dirty="0"/>
          </a:p>
        </p:txBody>
      </p:sp>
      <p:pic>
        <p:nvPicPr>
          <p:cNvPr id="7" name="Image 3" descr="lin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2800" y="1285218"/>
            <a:ext cx="1143000" cy="63500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812800" y="1600200"/>
            <a:ext cx="5194300" cy="4241800"/>
          </a:xfrm>
          <a:prstGeom prst="roundRect">
            <a:avLst>
              <a:gd name="adj" fmla="val 4192"/>
            </a:avLst>
          </a:prstGeom>
          <a:solidFill>
            <a:srgbClr val="12D6B0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sp>
        <p:nvSpPr>
          <p:cNvPr id="9" name="Shape 3"/>
          <p:cNvSpPr/>
          <p:nvPr/>
        </p:nvSpPr>
        <p:spPr>
          <a:xfrm>
            <a:off x="6184900" y="1600200"/>
            <a:ext cx="5194300" cy="4241800"/>
          </a:xfrm>
          <a:prstGeom prst="roundRect">
            <a:avLst>
              <a:gd name="adj" fmla="val 4192"/>
            </a:avLst>
          </a:prstGeom>
          <a:solidFill>
            <a:srgbClr val="5BC8FA"/>
          </a:solidFill>
          <a:ln/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pic>
        <p:nvPicPr>
          <p:cNvPr id="10" name="Image 4" descr="Boo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413500" y="1828800"/>
            <a:ext cx="558800" cy="55880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6413500" y="2667000"/>
            <a:ext cx="4879213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Documentation</a:t>
            </a:r>
            <a:endParaRPr lang="en-US" sz="1900" dirty="0"/>
          </a:p>
        </p:txBody>
      </p:sp>
      <p:pic>
        <p:nvPicPr>
          <p:cNvPr id="12" name="Image 5" descr="Check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041400" y="1828800"/>
            <a:ext cx="558800" cy="55880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041400" y="2669381"/>
            <a:ext cx="4879213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Conclusion</a:t>
            </a:r>
            <a:endParaRPr lang="en-US" sz="1900" dirty="0"/>
          </a:p>
        </p:txBody>
      </p:sp>
      <p:sp>
        <p:nvSpPr>
          <p:cNvPr id="14" name="Text 6"/>
          <p:cNvSpPr/>
          <p:nvPr/>
        </p:nvSpPr>
        <p:spPr>
          <a:xfrm>
            <a:off x="1041400" y="3315760"/>
            <a:ext cx="4378592" cy="1163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Explore India turns a tourism dataset into insight charts, destination browsing, a trip planner and saved trips in one connected website.</a:t>
            </a:r>
            <a:endParaRPr lang="en-US" sz="1600" dirty="0"/>
          </a:p>
        </p:txBody>
      </p:sp>
      <p:sp>
        <p:nvSpPr>
          <p:cNvPr id="15" name="Text 7"/>
          <p:cNvSpPr/>
          <p:nvPr/>
        </p:nvSpPr>
        <p:spPr>
          <a:xfrm>
            <a:off x="6413500" y="3315760"/>
            <a:ext cx="4879213" cy="1731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 report, this presentation, and visualisation / .ipynb files. </a:t>
            </a:r>
            <a:endParaRPr lang="en-US" sz="1600" dirty="0"/>
          </a:p>
          <a:p>
            <a:pPr algn="l" indent="0" marL="0">
              <a:lnSpc>
                <a:spcPts val="2240"/>
              </a:lnSpc>
              <a:buNone/>
            </a:pPr>
            <a:endParaRPr lang="en-US" sz="16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Dataset source: []. </a:t>
            </a:r>
            <a:endParaRPr lang="en-US" sz="1600" dirty="0"/>
          </a:p>
          <a:p>
            <a:pPr algn="l" indent="0" marL="0">
              <a:lnSpc>
                <a:spcPts val="2240"/>
              </a:lnSpc>
              <a:buNone/>
            </a:pPr>
            <a:endParaRPr lang="en-US" sz="16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A10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 repository: [].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A1038"/>
              </a:gs>
              <a:gs pos="100000">
                <a:srgbClr val="3B1D6E"/>
              </a:gs>
            </a:gsLst>
            <a:lin ang="2700000" scaled="0"/>
          </a:gradFill>
          <a:ln/>
        </p:spPr>
      </p:sp>
      <p:pic>
        <p:nvPicPr>
          <p:cNvPr id="3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5000" y="0"/>
            <a:ext cx="2667000" cy="2667000"/>
          </a:xfrm>
          <a:prstGeom prst="rect">
            <a:avLst/>
          </a:prstGeom>
        </p:spPr>
      </p:pic>
      <p:pic>
        <p:nvPicPr>
          <p:cNvPr id="4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4445000"/>
            <a:ext cx="2286000" cy="2286000"/>
          </a:xfrm>
          <a:prstGeom prst="rect">
            <a:avLst/>
          </a:prstGeom>
        </p:spPr>
      </p:pic>
      <p:pic>
        <p:nvPicPr>
          <p:cNvPr id="5" name="Image 2" descr="ellip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477500" y="4953000"/>
            <a:ext cx="1270000" cy="1270000"/>
          </a:xfrm>
          <a:prstGeom prst="rect">
            <a:avLst/>
          </a:prstGeom>
        </p:spPr>
      </p:pic>
      <p:sp>
        <p:nvSpPr>
          <p:cNvPr id="6" name="Text 1"/>
          <p:cNvSpPr/>
          <p:nvPr>
            <p:ph type="title"/>
          </p:nvPr>
        </p:nvSpPr>
        <p:spPr>
          <a:xfrm>
            <a:off x="3053755" y="2667000"/>
            <a:ext cx="10883392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150"/>
              </a:lnSpc>
              <a:buNone/>
            </a:pPr>
            <a:r>
              <a:rPr lang="en-US" sz="6500" b="1" i="0" dirty="0">
                <a:solidFill>
                  <a:srgbClr val="FFF3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6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xplore India — Tourism Analytics &amp; Smart Trip Planner">
  <a:themeElements>
    <a:clrScheme name="Explore India — Tourism Analytics &amp; Smart Trip Planner">
      <a:dk1>
        <a:srgbClr val="1A1038"/>
      </a:dk1>
      <a:lt1>
        <a:srgbClr val="FAF9F5"/>
      </a:lt1>
      <a:dk2>
        <a:srgbClr val="30274B"/>
      </a:dk2>
      <a:lt2>
        <a:srgbClr val="C2BFC6"/>
      </a:lt2>
      <a:accent1>
        <a:srgbClr val="FFB020"/>
      </a:accent1>
      <a:accent2>
        <a:srgbClr val="3B1D6E"/>
      </a:accent2>
      <a:accent3>
        <a:srgbClr val="12D6B0"/>
      </a:accent3>
      <a:accent4>
        <a:srgbClr val="0F2A4A"/>
      </a:accent4>
      <a:accent5>
        <a:srgbClr val="B69CFF"/>
      </a:accent5>
      <a:accent6>
        <a:srgbClr val="FF5D5D"/>
      </a:accent6>
      <a:hlink>
        <a:srgbClr val="0563C1"/>
      </a:hlink>
      <a:folHlink>
        <a:srgbClr val="954F72"/>
      </a:folHlink>
    </a:clrScheme>
    <a:fontScheme name="Explore India — Tourism Analytics &amp; Smart Trip Planner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Explore India — Tourism Analytics &amp; Smart Trip Planner</dc:title>
  <dc:subject/>
  <dc:creator/>
  <cp:lastModifiedBy/>
  <cp:revision>1</cp:revision>
  <dcterms:created xsi:type="dcterms:W3CDTF">2026-10-15T07:45:53Z</dcterms:created>
  <dcterms:modified xsi:type="dcterms:W3CDTF">2026-10-15T07:45:53Z</dcterms:modified>
</cp:coreProperties>
</file>